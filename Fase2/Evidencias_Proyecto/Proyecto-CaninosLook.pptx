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8229600" cx="14630400"/>
  <p:notesSz cx="8229600" cy="14630400"/>
  <p:embeddedFontLst>
    <p:embeddedFont>
      <p:font typeface="Gelasi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h8KSmU9ZLel0Jc7IEksHcvMVy0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Gelasio-bold.fntdata"/><Relationship Id="rId14" Type="http://schemas.openxmlformats.org/officeDocument/2006/relationships/font" Target="fonts/Gelasio-regular.fntdata"/><Relationship Id="rId17" Type="http://schemas.openxmlformats.org/officeDocument/2006/relationships/font" Target="fonts/Gelasio-boldItalic.fntdata"/><Relationship Id="rId16" Type="http://schemas.openxmlformats.org/officeDocument/2006/relationships/font" Target="fonts/Gelasio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4c029d94a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g394c029d94a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94c029d94a_2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94c029d94a_2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g394c029d94a_2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94c029d94a_2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4c029d94a_3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394c029d94a_3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94c029d94a_3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94c029d94a_3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94c029d94a_3_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94c029d94a_3_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9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9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9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9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9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9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9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9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9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1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1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1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1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1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6"/>
          <p:cNvSpPr/>
          <p:nvPr/>
        </p:nvSpPr>
        <p:spPr>
          <a:xfrm>
            <a:off x="0" y="7787700"/>
            <a:ext cx="14630400" cy="441900"/>
          </a:xfrm>
          <a:prstGeom prst="rect">
            <a:avLst/>
          </a:prstGeom>
          <a:solidFill>
            <a:srgbClr val="464342"/>
          </a:solidFill>
          <a:ln cap="flat" cmpd="sng" w="9525">
            <a:solidFill>
              <a:srgbClr val="46434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C49F8C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" name="Google Shape;34;p1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" name="Google Shape;38;p1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" name="Google Shape;42;p1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" name="Google Shape;46;p2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" name="Google Shape;50;p2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13.png"/><Relationship Id="rId5" Type="http://schemas.openxmlformats.org/officeDocument/2006/relationships/image" Target="../media/image10.png"/><Relationship Id="rId6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Relationship Id="rId4" Type="http://schemas.openxmlformats.org/officeDocument/2006/relationships/image" Target="../media/image18.png"/><Relationship Id="rId5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png"/><Relationship Id="rId4" Type="http://schemas.openxmlformats.org/officeDocument/2006/relationships/image" Target="../media/image19.png"/><Relationship Id="rId5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Relationship Id="rId4" Type="http://schemas.openxmlformats.org/officeDocument/2006/relationships/image" Target="../media/image25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"/>
          <p:cNvSpPr/>
          <p:nvPr/>
        </p:nvSpPr>
        <p:spPr>
          <a:xfrm>
            <a:off x="6280190" y="1837015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4450"/>
              <a:buFont typeface="Gelasio"/>
              <a:buNone/>
            </a:pPr>
            <a:r>
              <a:rPr b="0" i="0" lang="en-US" sz="445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Proyecto CaninosLook</a:t>
            </a:r>
            <a:endParaRPr b="0" i="0" sz="4450" u="none" cap="none" strike="noStrike"/>
          </a:p>
        </p:txBody>
      </p:sp>
      <p:sp>
        <p:nvSpPr>
          <p:cNvPr id="58" name="Google Shape;58;p1"/>
          <p:cNvSpPr/>
          <p:nvPr/>
        </p:nvSpPr>
        <p:spPr>
          <a:xfrm>
            <a:off x="6280190" y="2636520"/>
            <a:ext cx="4245769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2200"/>
              <a:buFont typeface="Gelasio"/>
              <a:buNone/>
            </a:pPr>
            <a:r>
              <a:rPr b="0" i="0" lang="en-US" sz="220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Fase 2 – Avance del Proyecto APT</a:t>
            </a:r>
            <a:endParaRPr b="0" i="0" sz="2200" u="none" cap="none" strike="noStrike"/>
          </a:p>
        </p:txBody>
      </p:sp>
      <p:sp>
        <p:nvSpPr>
          <p:cNvPr id="59" name="Google Shape;59;p1"/>
          <p:cNvSpPr/>
          <p:nvPr/>
        </p:nvSpPr>
        <p:spPr>
          <a:xfrm>
            <a:off x="6280190" y="3535085"/>
            <a:ext cx="35015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Char char="•"/>
            </a:pPr>
            <a:r>
              <a:rPr b="1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Integrantes:</a:t>
            </a:r>
            <a:endParaRPr b="0" i="0" sz="1750" u="none" cap="none" strike="noStrike"/>
          </a:p>
        </p:txBody>
      </p:sp>
      <p:sp>
        <p:nvSpPr>
          <p:cNvPr id="60" name="Google Shape;60;p1"/>
          <p:cNvSpPr/>
          <p:nvPr/>
        </p:nvSpPr>
        <p:spPr>
          <a:xfrm>
            <a:off x="6280190" y="3977283"/>
            <a:ext cx="350150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Char char="•"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Cristóbal Barros – Frontend Developer / Scrum Master</a:t>
            </a:r>
            <a:endParaRPr b="0" i="0" sz="1750" u="none" cap="none" strike="noStrike"/>
          </a:p>
        </p:txBody>
      </p:sp>
      <p:sp>
        <p:nvSpPr>
          <p:cNvPr id="61" name="Google Shape;61;p1"/>
          <p:cNvSpPr/>
          <p:nvPr/>
        </p:nvSpPr>
        <p:spPr>
          <a:xfrm>
            <a:off x="6280190" y="4782383"/>
            <a:ext cx="350150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Char char="•"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Diego Silva – Backend Developer</a:t>
            </a:r>
            <a:endParaRPr b="0" i="0" sz="1750" u="none" cap="none" strike="noStrike"/>
          </a:p>
        </p:txBody>
      </p:sp>
      <p:sp>
        <p:nvSpPr>
          <p:cNvPr id="62" name="Google Shape;62;p1"/>
          <p:cNvSpPr/>
          <p:nvPr/>
        </p:nvSpPr>
        <p:spPr>
          <a:xfrm>
            <a:off x="6280190" y="5587484"/>
            <a:ext cx="350150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Char char="•"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Agustín Valenzuela – Backend Developer</a:t>
            </a:r>
            <a:endParaRPr b="0" i="0" sz="1750" u="none" cap="none" strike="noStrike"/>
          </a:p>
        </p:txBody>
      </p:sp>
      <p:sp>
        <p:nvSpPr>
          <p:cNvPr id="63" name="Google Shape;63;p1"/>
          <p:cNvSpPr/>
          <p:nvPr/>
        </p:nvSpPr>
        <p:spPr>
          <a:xfrm>
            <a:off x="10342721" y="3535085"/>
            <a:ext cx="35015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1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Asignatura:</a:t>
            </a: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 PTY4614 Capstone</a:t>
            </a:r>
            <a:endParaRPr b="0" i="0" sz="1750" u="none" cap="none" strike="noStrike"/>
          </a:p>
        </p:txBody>
      </p:sp>
      <p:sp>
        <p:nvSpPr>
          <p:cNvPr id="64" name="Google Shape;64;p1"/>
          <p:cNvSpPr/>
          <p:nvPr/>
        </p:nvSpPr>
        <p:spPr>
          <a:xfrm>
            <a:off x="10342721" y="4102060"/>
            <a:ext cx="35015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1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Fecha:</a:t>
            </a: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 Noviembre 2023</a:t>
            </a:r>
            <a:endParaRPr b="0" i="0" sz="1750" u="none" cap="none" strike="noStrike"/>
          </a:p>
        </p:txBody>
      </p:sp>
      <p:sp>
        <p:nvSpPr>
          <p:cNvPr id="65" name="Google Shape;65;p1"/>
          <p:cNvSpPr/>
          <p:nvPr/>
        </p:nvSpPr>
        <p:spPr>
          <a:xfrm>
            <a:off x="25" y="7795750"/>
            <a:ext cx="14630400" cy="424200"/>
          </a:xfrm>
          <a:prstGeom prst="rect">
            <a:avLst/>
          </a:prstGeom>
          <a:solidFill>
            <a:srgbClr val="464342"/>
          </a:solidFill>
          <a:ln cap="flat" cmpd="sng" w="9525">
            <a:solidFill>
              <a:srgbClr val="46434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C49F8C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" name="Google Shape;6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"/>
          <p:cNvSpPr/>
          <p:nvPr/>
        </p:nvSpPr>
        <p:spPr>
          <a:xfrm>
            <a:off x="3310675" y="1831925"/>
            <a:ext cx="8780700" cy="5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2150"/>
              <a:buFont typeface="Gelasio"/>
              <a:buNone/>
            </a:pPr>
            <a:r>
              <a:rPr b="0" i="0" lang="en-US" sz="405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Introducción y Contexto del Proyecto</a:t>
            </a:r>
            <a:endParaRPr b="0" i="0" sz="4050" u="none" cap="none" strike="noStrike"/>
          </a:p>
        </p:txBody>
      </p:sp>
      <p:sp>
        <p:nvSpPr>
          <p:cNvPr id="73" name="Google Shape;73;p2"/>
          <p:cNvSpPr/>
          <p:nvPr/>
        </p:nvSpPr>
        <p:spPr>
          <a:xfrm>
            <a:off x="487680" y="2431018"/>
            <a:ext cx="5258038" cy="668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050"/>
              <a:buFont typeface="Gelasio"/>
              <a:buNone/>
            </a:pPr>
            <a:r>
              <a:t/>
            </a:r>
            <a:endParaRPr b="0" i="0" sz="1050" u="none" cap="none" strike="noStrike"/>
          </a:p>
        </p:txBody>
      </p:sp>
      <p:sp>
        <p:nvSpPr>
          <p:cNvPr id="74" name="Google Shape;74;p2"/>
          <p:cNvSpPr/>
          <p:nvPr/>
        </p:nvSpPr>
        <p:spPr>
          <a:xfrm>
            <a:off x="696635" y="9624298"/>
            <a:ext cx="13446085" cy="222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050"/>
              <a:buFont typeface="Gelasio"/>
              <a:buNone/>
            </a:pPr>
            <a:r>
              <a:rPr b="0" i="0" lang="en-US" sz="10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Problema identificado: Gestión manual de reservas y clientes en peluquería canina.</a:t>
            </a:r>
            <a:endParaRPr b="0" i="0" sz="1050" u="none" cap="none" strike="noStrike"/>
          </a:p>
        </p:txBody>
      </p:sp>
      <p:sp>
        <p:nvSpPr>
          <p:cNvPr id="75" name="Google Shape;75;p2"/>
          <p:cNvSpPr/>
          <p:nvPr/>
        </p:nvSpPr>
        <p:spPr>
          <a:xfrm>
            <a:off x="487680" y="9467612"/>
            <a:ext cx="15240" cy="536258"/>
          </a:xfrm>
          <a:prstGeom prst="rect">
            <a:avLst/>
          </a:prstGeom>
          <a:solidFill>
            <a:srgbClr val="C49F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2"/>
          <p:cNvSpPr/>
          <p:nvPr/>
        </p:nvSpPr>
        <p:spPr>
          <a:xfrm>
            <a:off x="25" y="7795750"/>
            <a:ext cx="14630400" cy="424200"/>
          </a:xfrm>
          <a:prstGeom prst="rect">
            <a:avLst/>
          </a:prstGeom>
          <a:solidFill>
            <a:srgbClr val="464342"/>
          </a:solidFill>
          <a:ln cap="flat" cmpd="sng" w="9525">
            <a:solidFill>
              <a:srgbClr val="46434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C49F8C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"/>
          <p:cNvSpPr txBox="1"/>
          <p:nvPr/>
        </p:nvSpPr>
        <p:spPr>
          <a:xfrm>
            <a:off x="2028100" y="3645875"/>
            <a:ext cx="110196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C9C2C0"/>
                </a:solidFill>
              </a:rPr>
              <a:t>CaninosLook es una peluquería canina física ubicada en Pudahuel, que debido al aumento constante de clientes solicitó la automatización de sus procesos de gestión.</a:t>
            </a:r>
            <a:endParaRPr sz="1700">
              <a:solidFill>
                <a:srgbClr val="C9C2C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C9C2C0"/>
                </a:solidFill>
              </a:rPr>
              <a:t>El objetivo del proyecto es digitalizar las reservas, el registro de clientes y el control de servicios mediante una aplicación web responsiva, mejorando la eficiencia operativa y la atención al cliente.</a:t>
            </a:r>
            <a:endParaRPr sz="2500">
              <a:solidFill>
                <a:srgbClr val="C9C2C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"/>
          <p:cNvSpPr/>
          <p:nvPr/>
        </p:nvSpPr>
        <p:spPr>
          <a:xfrm>
            <a:off x="793790" y="898327"/>
            <a:ext cx="7110293" cy="566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3550"/>
              <a:buFont typeface="Gelasio"/>
              <a:buNone/>
            </a:pPr>
            <a:r>
              <a:rPr b="0" i="0" lang="en-US" sz="355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Objetivos Específicos para la Fase 2</a:t>
            </a:r>
            <a:endParaRPr b="0" i="0" sz="3550" u="none" cap="none" strike="noStrike"/>
          </a:p>
        </p:txBody>
      </p:sp>
      <p:sp>
        <p:nvSpPr>
          <p:cNvPr id="84" name="Google Shape;84;p3"/>
          <p:cNvSpPr/>
          <p:nvPr/>
        </p:nvSpPr>
        <p:spPr>
          <a:xfrm>
            <a:off x="793790" y="1918930"/>
            <a:ext cx="6408000" cy="2774100"/>
          </a:xfrm>
          <a:prstGeom prst="roundRect">
            <a:avLst>
              <a:gd fmla="val 1226" name="adj"/>
            </a:avLst>
          </a:prstGeom>
          <a:solidFill>
            <a:srgbClr val="464342"/>
          </a:solidFill>
          <a:ln cap="flat" cmpd="sng" w="30475">
            <a:solidFill>
              <a:srgbClr val="504D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824270" y="1949410"/>
            <a:ext cx="6346984" cy="680442"/>
          </a:xfrm>
          <a:prstGeom prst="rect">
            <a:avLst/>
          </a:prstGeom>
          <a:solidFill>
            <a:srgbClr val="373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6" name="Google Shape;8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27621" y="2076926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3"/>
          <p:cNvSpPr/>
          <p:nvPr/>
        </p:nvSpPr>
        <p:spPr>
          <a:xfrm>
            <a:off x="2076575" y="3431125"/>
            <a:ext cx="41634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200"/>
              <a:buFont typeface="Gelasio"/>
              <a:buNone/>
            </a:pPr>
            <a:r>
              <a:rPr b="0" i="0" lang="en-US" sz="22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Desarrollo de Módulos Core</a:t>
            </a:r>
            <a:endParaRPr b="0" i="0" sz="2200" u="none" cap="none" strike="noStrike"/>
          </a:p>
        </p:txBody>
      </p:sp>
      <p:sp>
        <p:nvSpPr>
          <p:cNvPr id="88" name="Google Shape;88;p3"/>
          <p:cNvSpPr/>
          <p:nvPr/>
        </p:nvSpPr>
        <p:spPr>
          <a:xfrm>
            <a:off x="7428548" y="1918930"/>
            <a:ext cx="6408063" cy="2774156"/>
          </a:xfrm>
          <a:prstGeom prst="roundRect">
            <a:avLst>
              <a:gd fmla="val 1226" name="adj"/>
            </a:avLst>
          </a:prstGeom>
          <a:solidFill>
            <a:srgbClr val="464342"/>
          </a:solidFill>
          <a:ln cap="flat" cmpd="sng" w="30475">
            <a:solidFill>
              <a:srgbClr val="504D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7459027" y="1949410"/>
            <a:ext cx="6347103" cy="680442"/>
          </a:xfrm>
          <a:prstGeom prst="rect">
            <a:avLst/>
          </a:prstGeom>
          <a:solidFill>
            <a:srgbClr val="373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0" name="Google Shape;9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62498" y="2076926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3"/>
          <p:cNvSpPr/>
          <p:nvPr/>
        </p:nvSpPr>
        <p:spPr>
          <a:xfrm>
            <a:off x="8505142" y="3431117"/>
            <a:ext cx="42549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200"/>
              <a:buFont typeface="Gelasio"/>
              <a:buNone/>
            </a:pPr>
            <a:r>
              <a:rPr b="0" i="0" lang="en-US" sz="22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Implementación de Base de Datos</a:t>
            </a:r>
            <a:endParaRPr b="0" i="0" sz="2200" u="none" cap="none" strike="noStrike"/>
          </a:p>
        </p:txBody>
      </p:sp>
      <p:sp>
        <p:nvSpPr>
          <p:cNvPr id="92" name="Google Shape;92;p3"/>
          <p:cNvSpPr/>
          <p:nvPr/>
        </p:nvSpPr>
        <p:spPr>
          <a:xfrm>
            <a:off x="793790" y="4919901"/>
            <a:ext cx="6407944" cy="2411254"/>
          </a:xfrm>
          <a:prstGeom prst="roundRect">
            <a:avLst>
              <a:gd fmla="val 1411" name="adj"/>
            </a:avLst>
          </a:prstGeom>
          <a:solidFill>
            <a:srgbClr val="464342"/>
          </a:solidFill>
          <a:ln cap="flat" cmpd="sng" w="30475">
            <a:solidFill>
              <a:srgbClr val="504D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824270" y="4950381"/>
            <a:ext cx="6346984" cy="680442"/>
          </a:xfrm>
          <a:prstGeom prst="rect">
            <a:avLst/>
          </a:prstGeom>
          <a:solidFill>
            <a:srgbClr val="373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4" name="Google Shape;94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27621" y="5077897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3"/>
          <p:cNvSpPr/>
          <p:nvPr/>
        </p:nvSpPr>
        <p:spPr>
          <a:xfrm>
            <a:off x="2076571" y="6267937"/>
            <a:ext cx="38424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200"/>
              <a:buFont typeface="Gelasio"/>
              <a:buNone/>
            </a:pPr>
            <a:r>
              <a:rPr b="0" i="0" lang="en-US" sz="22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Aplicación Metodología Scrum</a:t>
            </a:r>
            <a:endParaRPr b="0" i="0" sz="2200" u="none" cap="none" strike="noStrike"/>
          </a:p>
        </p:txBody>
      </p:sp>
      <p:sp>
        <p:nvSpPr>
          <p:cNvPr id="96" name="Google Shape;96;p3"/>
          <p:cNvSpPr/>
          <p:nvPr/>
        </p:nvSpPr>
        <p:spPr>
          <a:xfrm>
            <a:off x="7428548" y="4919901"/>
            <a:ext cx="6408063" cy="2411254"/>
          </a:xfrm>
          <a:prstGeom prst="roundRect">
            <a:avLst>
              <a:gd fmla="val 1411" name="adj"/>
            </a:avLst>
          </a:prstGeom>
          <a:solidFill>
            <a:srgbClr val="464342"/>
          </a:solidFill>
          <a:ln cap="flat" cmpd="sng" w="30475">
            <a:solidFill>
              <a:srgbClr val="504D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7459027" y="4950381"/>
            <a:ext cx="6347103" cy="680442"/>
          </a:xfrm>
          <a:prstGeom prst="rect">
            <a:avLst/>
          </a:prstGeom>
          <a:solidFill>
            <a:srgbClr val="373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8" name="Google Shape;98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462498" y="5077897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3"/>
          <p:cNvSpPr/>
          <p:nvPr/>
        </p:nvSpPr>
        <p:spPr>
          <a:xfrm>
            <a:off x="8146467" y="6267937"/>
            <a:ext cx="49722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200"/>
              <a:buFont typeface="Gelasio"/>
              <a:buNone/>
            </a:pPr>
            <a:r>
              <a:rPr b="0" i="0" lang="en-US" sz="22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Preparación para Integraciones Futuras</a:t>
            </a:r>
            <a:endParaRPr b="0" i="0" sz="2200" u="none" cap="none" strike="noStrike"/>
          </a:p>
        </p:txBody>
      </p:sp>
      <p:sp>
        <p:nvSpPr>
          <p:cNvPr id="100" name="Google Shape;100;p3"/>
          <p:cNvSpPr/>
          <p:nvPr/>
        </p:nvSpPr>
        <p:spPr>
          <a:xfrm>
            <a:off x="25" y="7795750"/>
            <a:ext cx="14630400" cy="424200"/>
          </a:xfrm>
          <a:prstGeom prst="rect">
            <a:avLst/>
          </a:prstGeom>
          <a:solidFill>
            <a:srgbClr val="464342"/>
          </a:solidFill>
          <a:ln cap="flat" cmpd="sng" w="9525">
            <a:solidFill>
              <a:srgbClr val="46434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C49F8C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"/>
          <p:cNvSpPr/>
          <p:nvPr/>
        </p:nvSpPr>
        <p:spPr>
          <a:xfrm>
            <a:off x="650200" y="510897"/>
            <a:ext cx="4162200" cy="4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62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2900"/>
              <a:buFont typeface="Gelasio"/>
              <a:buNone/>
            </a:pPr>
            <a:r>
              <a:rPr b="0" i="0" lang="en-US" sz="290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Avances Técnicos Sólidos</a:t>
            </a:r>
            <a:endParaRPr b="0" i="0" sz="2900" u="none" cap="none" strike="noStrike"/>
          </a:p>
        </p:txBody>
      </p:sp>
      <p:sp>
        <p:nvSpPr>
          <p:cNvPr id="107" name="Google Shape;107;p5"/>
          <p:cNvSpPr/>
          <p:nvPr/>
        </p:nvSpPr>
        <p:spPr>
          <a:xfrm>
            <a:off x="650200" y="1346835"/>
            <a:ext cx="4319400" cy="1710600"/>
          </a:xfrm>
          <a:prstGeom prst="roundRect">
            <a:avLst>
              <a:gd fmla="val 6415" name="adj"/>
            </a:avLst>
          </a:prstGeom>
          <a:solidFill>
            <a:srgbClr val="464342"/>
          </a:solidFill>
          <a:ln cap="flat" cmpd="sng" w="22850">
            <a:solidFill>
              <a:srgbClr val="504D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627340" y="1346835"/>
            <a:ext cx="91500" cy="1710600"/>
          </a:xfrm>
          <a:prstGeom prst="roundRect">
            <a:avLst>
              <a:gd fmla="val 30477" name="adj"/>
            </a:avLst>
          </a:prstGeom>
          <a:solidFill>
            <a:srgbClr val="C49F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/>
          <p:nvPr/>
        </p:nvSpPr>
        <p:spPr>
          <a:xfrm>
            <a:off x="927378" y="1555432"/>
            <a:ext cx="35337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800"/>
              <a:buFont typeface="Gelasio"/>
              <a:buNone/>
            </a:pPr>
            <a:r>
              <a:rPr b="0" i="0" lang="en-US" sz="18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Desarrollo de Módulos Principales</a:t>
            </a:r>
            <a:endParaRPr b="0" i="0" sz="1800" u="none" cap="none" strike="noStrike"/>
          </a:p>
        </p:txBody>
      </p:sp>
      <p:sp>
        <p:nvSpPr>
          <p:cNvPr id="110" name="Google Shape;110;p5"/>
          <p:cNvSpPr/>
          <p:nvPr/>
        </p:nvSpPr>
        <p:spPr>
          <a:xfrm>
            <a:off x="927378" y="1957149"/>
            <a:ext cx="38337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450"/>
              <a:buFont typeface="Gelasio"/>
              <a:buNone/>
            </a:pPr>
            <a:r>
              <a:rPr b="0" i="0" lang="en-US" sz="14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Completados los esquemas lógicos y la funcionalidad del backend para </a:t>
            </a:r>
            <a:r>
              <a:rPr b="1" i="0" lang="en-US" sz="14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Clientes, Mascotas y Reservas</a:t>
            </a:r>
            <a:r>
              <a:rPr b="0" i="0" lang="en-US" sz="14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.</a:t>
            </a:r>
            <a:endParaRPr b="0" i="0" sz="1450" u="none" cap="none" strike="noStrike"/>
          </a:p>
        </p:txBody>
      </p:sp>
      <p:sp>
        <p:nvSpPr>
          <p:cNvPr id="111" name="Google Shape;111;p5"/>
          <p:cNvSpPr/>
          <p:nvPr/>
        </p:nvSpPr>
        <p:spPr>
          <a:xfrm>
            <a:off x="5155406" y="1346835"/>
            <a:ext cx="4319400" cy="1710600"/>
          </a:xfrm>
          <a:prstGeom prst="roundRect">
            <a:avLst>
              <a:gd fmla="val 6415" name="adj"/>
            </a:avLst>
          </a:prstGeom>
          <a:solidFill>
            <a:srgbClr val="464342"/>
          </a:solidFill>
          <a:ln cap="flat" cmpd="sng" w="22850">
            <a:solidFill>
              <a:srgbClr val="504D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5132546" y="1346835"/>
            <a:ext cx="91500" cy="1710600"/>
          </a:xfrm>
          <a:prstGeom prst="roundRect">
            <a:avLst>
              <a:gd fmla="val 30477" name="adj"/>
            </a:avLst>
          </a:prstGeom>
          <a:solidFill>
            <a:srgbClr val="C49F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5432584" y="1555432"/>
            <a:ext cx="27405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800"/>
              <a:buFont typeface="Gelasio"/>
              <a:buNone/>
            </a:pPr>
            <a:r>
              <a:rPr b="0" i="0" lang="en-US" sz="18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Base de Datos Operacional</a:t>
            </a:r>
            <a:endParaRPr b="0" i="0" sz="1800" u="none" cap="none" strike="noStrike"/>
          </a:p>
        </p:txBody>
      </p:sp>
      <p:sp>
        <p:nvSpPr>
          <p:cNvPr id="114" name="Google Shape;114;p5"/>
          <p:cNvSpPr/>
          <p:nvPr/>
        </p:nvSpPr>
        <p:spPr>
          <a:xfrm>
            <a:off x="5432584" y="1957149"/>
            <a:ext cx="38337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450"/>
              <a:buFont typeface="Gelasio"/>
              <a:buNone/>
            </a:pPr>
            <a:r>
              <a:rPr b="0" i="0" lang="en-US" sz="14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La base de datos MySQL está implementada y sincronizada, lista para manejar grandes volúmenes de datos.</a:t>
            </a:r>
            <a:endParaRPr b="0" i="0" sz="1450" u="none" cap="none" strike="noStrike"/>
          </a:p>
        </p:txBody>
      </p:sp>
      <p:sp>
        <p:nvSpPr>
          <p:cNvPr id="115" name="Google Shape;115;p5"/>
          <p:cNvSpPr/>
          <p:nvPr/>
        </p:nvSpPr>
        <p:spPr>
          <a:xfrm>
            <a:off x="9660612" y="1346835"/>
            <a:ext cx="4319700" cy="1710600"/>
          </a:xfrm>
          <a:prstGeom prst="roundRect">
            <a:avLst>
              <a:gd fmla="val 6415" name="adj"/>
            </a:avLst>
          </a:prstGeom>
          <a:solidFill>
            <a:srgbClr val="464342"/>
          </a:solidFill>
          <a:ln cap="flat" cmpd="sng" w="22850">
            <a:solidFill>
              <a:srgbClr val="504D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9637752" y="1346835"/>
            <a:ext cx="91500" cy="1710600"/>
          </a:xfrm>
          <a:prstGeom prst="roundRect">
            <a:avLst>
              <a:gd fmla="val 30477" name="adj"/>
            </a:avLst>
          </a:prstGeom>
          <a:solidFill>
            <a:srgbClr val="C49F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9937790" y="1555432"/>
            <a:ext cx="27651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800"/>
              <a:buFont typeface="Gelasio"/>
              <a:buNone/>
            </a:pPr>
            <a:r>
              <a:rPr b="0" i="0" lang="en-US" sz="18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Gestión con Django Admin</a:t>
            </a:r>
            <a:endParaRPr b="0" i="0" sz="1800" u="none" cap="none" strike="noStrike"/>
          </a:p>
        </p:txBody>
      </p:sp>
      <p:sp>
        <p:nvSpPr>
          <p:cNvPr id="118" name="Google Shape;118;p5"/>
          <p:cNvSpPr/>
          <p:nvPr/>
        </p:nvSpPr>
        <p:spPr>
          <a:xfrm>
            <a:off x="9937790" y="1957149"/>
            <a:ext cx="38337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450"/>
              <a:buFont typeface="Gelasio"/>
              <a:buNone/>
            </a:pPr>
            <a:r>
              <a:rPr b="0" i="0" lang="en-US" sz="14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Utilizamos el sitio administrativo de Django como interfaz provisional para la gestión.</a:t>
            </a:r>
            <a:endParaRPr b="0" i="0" sz="1450" u="none" cap="none" strike="noStrike"/>
          </a:p>
        </p:txBody>
      </p:sp>
      <p:pic>
        <p:nvPicPr>
          <p:cNvPr descr="preencoded.png" id="119" name="Google Shape;11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50745" y="3387271"/>
            <a:ext cx="4339114" cy="43391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0" name="Google Shape;12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45524" y="3387209"/>
            <a:ext cx="4339234" cy="43392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1" name="Google Shape;121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285" y="3387209"/>
            <a:ext cx="4339234" cy="43392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/>
          <p:nvPr/>
        </p:nvSpPr>
        <p:spPr>
          <a:xfrm>
            <a:off x="626507" y="492204"/>
            <a:ext cx="5852700" cy="4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2800"/>
              <a:buFont typeface="Gelasio"/>
              <a:buNone/>
            </a:pPr>
            <a:r>
              <a:rPr lang="en-US" sz="2800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modelo de base de datosMysql</a:t>
            </a:r>
            <a:endParaRPr b="0" i="0" sz="2800" u="none" cap="none" strike="noStrike"/>
          </a:p>
        </p:txBody>
      </p:sp>
      <p:sp>
        <p:nvSpPr>
          <p:cNvPr id="128" name="Google Shape;128;p6"/>
          <p:cNvSpPr/>
          <p:nvPr/>
        </p:nvSpPr>
        <p:spPr>
          <a:xfrm>
            <a:off x="25" y="7795750"/>
            <a:ext cx="14630400" cy="424200"/>
          </a:xfrm>
          <a:prstGeom prst="rect">
            <a:avLst/>
          </a:prstGeom>
          <a:solidFill>
            <a:srgbClr val="464342"/>
          </a:solidFill>
          <a:ln cap="flat" cmpd="sng" w="9525">
            <a:solidFill>
              <a:srgbClr val="46434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C49F8C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9" name="Google Shape;12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500" y="1952675"/>
            <a:ext cx="4485550" cy="590682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6"/>
          <p:cNvSpPr txBox="1"/>
          <p:nvPr/>
        </p:nvSpPr>
        <p:spPr>
          <a:xfrm>
            <a:off x="6864675" y="2321550"/>
            <a:ext cx="7109100" cy="3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00"/>
              <a:buChar char="●"/>
            </a:pPr>
            <a:r>
              <a:rPr b="1" lang="en-US" sz="1700">
                <a:solidFill>
                  <a:srgbClr val="C9C2C0"/>
                </a:solidFill>
              </a:rPr>
              <a:t>Tabla Cliente:</a:t>
            </a:r>
            <a:r>
              <a:rPr lang="en-US" sz="1700">
                <a:solidFill>
                  <a:srgbClr val="C9C2C0"/>
                </a:solidFill>
              </a:rPr>
              <a:t> almacena los datos de los clientes para permitir su identificación y contacto futuro.</a:t>
            </a:r>
            <a:endParaRPr sz="1700">
              <a:solidFill>
                <a:srgbClr val="C9C2C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C9C2C0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00"/>
              <a:buChar char="●"/>
            </a:pPr>
            <a:r>
              <a:rPr b="1" lang="en-US" sz="1700">
                <a:solidFill>
                  <a:srgbClr val="C9C2C0"/>
                </a:solidFill>
              </a:rPr>
              <a:t>Tabla Canino:</a:t>
            </a:r>
            <a:r>
              <a:rPr lang="en-US" sz="1700">
                <a:solidFill>
                  <a:srgbClr val="C9C2C0"/>
                </a:solidFill>
              </a:rPr>
              <a:t> guarda la información de cada perro, permitiendo identificar sus características y determinar el valor del servicio.</a:t>
            </a:r>
            <a:endParaRPr sz="1700">
              <a:solidFill>
                <a:srgbClr val="C9C2C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C9C2C0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00"/>
              <a:buChar char="●"/>
            </a:pPr>
            <a:r>
              <a:rPr b="1" lang="en-US" sz="1700">
                <a:solidFill>
                  <a:srgbClr val="C9C2C0"/>
                </a:solidFill>
              </a:rPr>
              <a:t>Tabla Reserva:</a:t>
            </a:r>
            <a:r>
              <a:rPr lang="en-US" sz="1700">
                <a:solidFill>
                  <a:srgbClr val="C9C2C0"/>
                </a:solidFill>
              </a:rPr>
              <a:t> registra los detalles de cada reserva, incluyendo servicio, horario, medio de pago y estado del mismo, facilitando la gestión de disponibilidad y pagos.</a:t>
            </a:r>
            <a:endParaRPr sz="1700">
              <a:solidFill>
                <a:srgbClr val="C9C2C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C9C2C0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00"/>
              <a:buChar char="●"/>
            </a:pPr>
            <a:r>
              <a:rPr b="1" lang="en-US" sz="1700">
                <a:solidFill>
                  <a:srgbClr val="C9C2C0"/>
                </a:solidFill>
              </a:rPr>
              <a:t>Tabla Sesión:</a:t>
            </a:r>
            <a:r>
              <a:rPr lang="en-US" sz="1700">
                <a:solidFill>
                  <a:srgbClr val="C9C2C0"/>
                </a:solidFill>
              </a:rPr>
              <a:t> registra la información de cada visita, como comentarios, comunicaciones y tiempos de atención, con el objetivo de analizar patrones y mejorar la experiencia del servicio.</a:t>
            </a:r>
            <a:endParaRPr sz="2000">
              <a:solidFill>
                <a:srgbClr val="C9C2C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94c029d94a_2_0"/>
          <p:cNvSpPr/>
          <p:nvPr/>
        </p:nvSpPr>
        <p:spPr>
          <a:xfrm>
            <a:off x="5805403" y="468750"/>
            <a:ext cx="3019500" cy="4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2800"/>
              <a:buFont typeface="Gelasio"/>
              <a:buNone/>
            </a:pPr>
            <a:r>
              <a:rPr lang="en-US" sz="2800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Modelo As-is</a:t>
            </a:r>
            <a:endParaRPr b="0" i="0" sz="2800" u="none" cap="none" strike="noStrike"/>
          </a:p>
        </p:txBody>
      </p:sp>
      <p:sp>
        <p:nvSpPr>
          <p:cNvPr id="137" name="Google Shape;137;g394c029d94a_2_0"/>
          <p:cNvSpPr/>
          <p:nvPr/>
        </p:nvSpPr>
        <p:spPr>
          <a:xfrm>
            <a:off x="25" y="7795750"/>
            <a:ext cx="14630400" cy="424200"/>
          </a:xfrm>
          <a:prstGeom prst="rect">
            <a:avLst/>
          </a:prstGeom>
          <a:solidFill>
            <a:srgbClr val="464342"/>
          </a:solidFill>
          <a:ln cap="flat" cmpd="sng" w="9525">
            <a:solidFill>
              <a:srgbClr val="46434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C49F8C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8" name="Google Shape;138;g394c029d94a_2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050" y="2100575"/>
            <a:ext cx="14442851" cy="402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94c029d94a_2_13"/>
          <p:cNvSpPr/>
          <p:nvPr/>
        </p:nvSpPr>
        <p:spPr>
          <a:xfrm>
            <a:off x="4388875" y="422275"/>
            <a:ext cx="5852700" cy="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2800"/>
              <a:buFont typeface="Gelasio"/>
              <a:buNone/>
            </a:pPr>
            <a:r>
              <a:rPr lang="en-US" sz="2800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Modelos casos de uso</a:t>
            </a:r>
            <a:endParaRPr b="0" i="0" sz="2800" u="none" cap="none" strike="noStrike"/>
          </a:p>
        </p:txBody>
      </p:sp>
      <p:sp>
        <p:nvSpPr>
          <p:cNvPr id="145" name="Google Shape;145;g394c029d94a_2_13"/>
          <p:cNvSpPr/>
          <p:nvPr/>
        </p:nvSpPr>
        <p:spPr>
          <a:xfrm>
            <a:off x="25" y="7795750"/>
            <a:ext cx="14630400" cy="424200"/>
          </a:xfrm>
          <a:prstGeom prst="rect">
            <a:avLst/>
          </a:prstGeom>
          <a:solidFill>
            <a:srgbClr val="464342"/>
          </a:solidFill>
          <a:ln cap="flat" cmpd="sng" w="9525">
            <a:solidFill>
              <a:srgbClr val="46434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C49F8C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iagrama&#10;&#10;El contenido generado por IA puede ser incorrecto." id="146" name="Google Shape;146;g394c029d94a_2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2663" y="939500"/>
            <a:ext cx="3788575" cy="6964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iagrama&#10;&#10;El contenido generado por IA puede ser incorrecto." id="147" name="Google Shape;147;g394c029d94a_2_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64650" y="4319713"/>
            <a:ext cx="5734050" cy="3162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iagrama&#10;&#10;El contenido generado por IA puede ser incorrecto." id="148" name="Google Shape;148;g394c029d94a_2_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64650" y="1430575"/>
            <a:ext cx="5734050" cy="230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94c029d94a_3_5"/>
          <p:cNvSpPr/>
          <p:nvPr/>
        </p:nvSpPr>
        <p:spPr>
          <a:xfrm>
            <a:off x="4388857" y="399179"/>
            <a:ext cx="5852700" cy="4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2800"/>
              <a:buFont typeface="Gelasio"/>
              <a:buNone/>
            </a:pPr>
            <a:r>
              <a:rPr lang="en-US" sz="2800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Modelos casos de uso</a:t>
            </a:r>
            <a:endParaRPr b="0" i="0" sz="2800" u="none" cap="none" strike="noStrike"/>
          </a:p>
        </p:txBody>
      </p:sp>
      <p:sp>
        <p:nvSpPr>
          <p:cNvPr id="155" name="Google Shape;155;g394c029d94a_3_5"/>
          <p:cNvSpPr/>
          <p:nvPr/>
        </p:nvSpPr>
        <p:spPr>
          <a:xfrm>
            <a:off x="25" y="7795750"/>
            <a:ext cx="14630400" cy="424200"/>
          </a:xfrm>
          <a:prstGeom prst="rect">
            <a:avLst/>
          </a:prstGeom>
          <a:solidFill>
            <a:srgbClr val="464342"/>
          </a:solidFill>
          <a:ln cap="flat" cmpd="sng" w="9525">
            <a:solidFill>
              <a:srgbClr val="46434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C49F8C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iagrama&#10;&#10;El contenido generado por IA puede ser incorrecto." id="156" name="Google Shape;156;g394c029d94a_3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475" y="1065550"/>
            <a:ext cx="5734050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iagrama&#10;&#10;El contenido generado por IA puede ser incorrecto." id="157" name="Google Shape;157;g394c029d94a_3_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4475" y="4530225"/>
            <a:ext cx="5734050" cy="2800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iagrama&#10;&#10;El contenido generado por IA puede ser incorrecto." id="158" name="Google Shape;158;g394c029d94a_3_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12350" y="1065550"/>
            <a:ext cx="5734050" cy="2512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iagrama&#10;&#10;El contenido generado por IA puede ser incorrecto." id="159" name="Google Shape;159;g394c029d94a_3_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12350" y="4530225"/>
            <a:ext cx="5734050" cy="280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4c029d94a_3_31"/>
          <p:cNvSpPr txBox="1"/>
          <p:nvPr/>
        </p:nvSpPr>
        <p:spPr>
          <a:xfrm>
            <a:off x="4255500" y="3815850"/>
            <a:ext cx="6119400" cy="5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C9C2C0"/>
                </a:solidFill>
              </a:rPr>
              <a:t>CONCLUSIONES DE LA FASE 2</a:t>
            </a:r>
            <a:endParaRPr sz="3000">
              <a:solidFill>
                <a:srgbClr val="C9C2C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2025-10-16T00:25:59Z</dcterms:created>
</cp:coreProperties>
</file>