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8229600" cx="14630400"/>
  <p:notesSz cx="8229600" cy="14630400"/>
  <p:embeddedFontLst>
    <p:embeddedFont>
      <p:font typeface="Inter Light"/>
      <p:regular r:id="rId15"/>
      <p:bold r:id="rId16"/>
      <p:italic r:id="rId17"/>
      <p:boldItalic r:id="rId18"/>
    </p:embeddedFont>
    <p:embeddedFont>
      <p:font typeface="Inter"/>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BI4HeEjmi6dVdixapUEW18NFx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38B416-3BCA-4318-AEB7-2506FE7DCEEF}">
  <a:tblStyle styleId="{9338B416-3BCA-4318-AEB7-2506FE7DCEEF}" styleName="Table_0">
    <a:wholeTbl>
      <a:tcTxStyle>
        <a:font>
          <a:latin typeface="Arial"/>
          <a:ea typeface="Arial"/>
          <a:cs typeface="Arial"/>
        </a:font>
        <a:srgbClr val="000000"/>
      </a:tcTxStyle>
      <a:tcStyle>
        <a:tcBdr>
          <a:left>
            <a:ln cap="flat" cmpd="sng" w="6350">
              <a:solidFill>
                <a:srgbClr val="BFBFBF"/>
              </a:solidFill>
              <a:prstDash val="solid"/>
              <a:round/>
              <a:headEnd len="sm" w="sm" type="none"/>
              <a:tailEnd len="sm" w="sm" type="none"/>
            </a:ln>
          </a:left>
          <a:right>
            <a:ln cap="flat" cmpd="sng" w="6350">
              <a:solidFill>
                <a:srgbClr val="BFBFBF"/>
              </a:solidFill>
              <a:prstDash val="solid"/>
              <a:round/>
              <a:headEnd len="sm" w="sm" type="none"/>
              <a:tailEnd len="sm" w="sm" type="none"/>
            </a:ln>
          </a:right>
          <a:top>
            <a:ln cap="flat" cmpd="sng" w="6350">
              <a:solidFill>
                <a:srgbClr val="BFBFBF"/>
              </a:solidFill>
              <a:prstDash val="solid"/>
              <a:round/>
              <a:headEnd len="sm" w="sm" type="none"/>
              <a:tailEnd len="sm" w="sm" type="none"/>
            </a:ln>
          </a:top>
          <a:bottom>
            <a:ln cap="flat" cmpd="sng" w="6350">
              <a:solidFill>
                <a:srgbClr val="BFBFBF"/>
              </a:solidFill>
              <a:prstDash val="solid"/>
              <a:round/>
              <a:headEnd len="sm" w="sm" type="none"/>
              <a:tailEnd len="sm" w="sm" type="none"/>
            </a:ln>
          </a:bottom>
          <a:insideH>
            <a:ln cap="flat" cmpd="sng" w="6350">
              <a:solidFill>
                <a:srgbClr val="BFBFBF"/>
              </a:solidFill>
              <a:prstDash val="solid"/>
              <a:round/>
              <a:headEnd len="sm" w="sm" type="none"/>
              <a:tailEnd len="sm" w="sm" type="none"/>
            </a:ln>
          </a:insideH>
          <a:insideV>
            <a:ln cap="flat" cmpd="sng" w="6350">
              <a:solidFill>
                <a:srgbClr val="BFBFBF"/>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Light-regular.fntdata"/><Relationship Id="rId14" Type="http://schemas.openxmlformats.org/officeDocument/2006/relationships/slide" Target="slides/slide9.xml"/><Relationship Id="rId17" Type="http://schemas.openxmlformats.org/officeDocument/2006/relationships/font" Target="fonts/InterLight-italic.fntdata"/><Relationship Id="rId16" Type="http://schemas.openxmlformats.org/officeDocument/2006/relationships/font" Target="fonts/InterLight-bold.fntdata"/><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Ligh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2"/>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13"/>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14"/>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15"/>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16"/>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17"/>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18"/>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19"/>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20"/>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21"/>
          <p:cNvSpPr/>
          <p:nvPr/>
        </p:nvSpPr>
        <p:spPr>
          <a:xfrm>
            <a:off x="0" y="0"/>
            <a:ext cx="14630400" cy="8229600"/>
          </a:xfrm>
          <a:prstGeom prst="rect">
            <a:avLst/>
          </a:prstGeom>
          <a:solidFill>
            <a:srgbClr val="F6F4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57" name="Google Shape;57;p1"/>
          <p:cNvSpPr/>
          <p:nvPr/>
        </p:nvSpPr>
        <p:spPr>
          <a:xfrm>
            <a:off x="793790" y="3728160"/>
            <a:ext cx="7556400" cy="21264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CaninosLook: Digitalizando la Peluquería Canina</a:t>
            </a:r>
            <a:endParaRPr b="0" i="0" sz="4450" u="none" cap="none" strike="noStrike"/>
          </a:p>
        </p:txBody>
      </p:sp>
      <p:sp>
        <p:nvSpPr>
          <p:cNvPr id="58" name="Google Shape;58;p1"/>
          <p:cNvSpPr/>
          <p:nvPr/>
        </p:nvSpPr>
        <p:spPr>
          <a:xfrm>
            <a:off x="793790" y="6194659"/>
            <a:ext cx="7556400" cy="10887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Docente: Reginaldo Salinas Bruna </a:t>
            </a:r>
            <a:endParaRPr b="0" i="0" sz="1750" u="none" cap="none" strike="noStrike">
              <a:solidFill>
                <a:srgbClr val="272525"/>
              </a:solidFill>
              <a:latin typeface="Inter"/>
              <a:ea typeface="Inter"/>
              <a:cs typeface="Inter"/>
              <a:sym typeface="Inter"/>
            </a:endParaRPr>
          </a:p>
          <a:p>
            <a:pPr indent="0" lvl="0" marL="0" marR="0" rtl="0" algn="ct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Grupo Nº: </a:t>
            </a:r>
            <a:r>
              <a:rPr lang="en-US" sz="1750">
                <a:solidFill>
                  <a:srgbClr val="272525"/>
                </a:solidFill>
                <a:latin typeface="Inter"/>
                <a:ea typeface="Inter"/>
                <a:cs typeface="Inter"/>
                <a:sym typeface="Inter"/>
              </a:rPr>
              <a:t>5</a:t>
            </a:r>
            <a:r>
              <a:rPr b="0" i="0" lang="en-US" sz="1750" u="none" cap="none" strike="noStrike">
                <a:solidFill>
                  <a:srgbClr val="272525"/>
                </a:solidFill>
                <a:latin typeface="Inter"/>
                <a:ea typeface="Inter"/>
                <a:cs typeface="Inter"/>
                <a:sym typeface="Inter"/>
              </a:rPr>
              <a:t> </a:t>
            </a:r>
            <a:endParaRPr b="0" i="0" sz="1750" u="none" cap="none" strike="noStrike">
              <a:solidFill>
                <a:srgbClr val="272525"/>
              </a:solidFill>
              <a:latin typeface="Inter"/>
              <a:ea typeface="Inter"/>
              <a:cs typeface="Inter"/>
              <a:sym typeface="Inter"/>
            </a:endParaRPr>
          </a:p>
          <a:p>
            <a:pPr indent="0" lvl="0" marL="0" marR="0" rtl="0" algn="ctr">
              <a:lnSpc>
                <a:spcPct val="162857"/>
              </a:lnSpc>
              <a:spcBef>
                <a:spcPts val="0"/>
              </a:spcBef>
              <a:spcAft>
                <a:spcPts val="0"/>
              </a:spcAft>
              <a:buClr>
                <a:srgbClr val="272525"/>
              </a:buClr>
              <a:buSzPts val="1750"/>
              <a:buFont typeface="Inter"/>
              <a:buNone/>
            </a:pPr>
            <a:r>
              <a:rPr lang="en-US" sz="1750">
                <a:solidFill>
                  <a:srgbClr val="272525"/>
                </a:solidFill>
                <a:latin typeface="Inter"/>
                <a:ea typeface="Inter"/>
                <a:cs typeface="Inter"/>
                <a:sym typeface="Inter"/>
              </a:rPr>
              <a:t>Fecha: 11/09/2025</a:t>
            </a:r>
            <a:endParaRPr sz="1750">
              <a:solidFill>
                <a:srgbClr val="272525"/>
              </a:solidFill>
              <a:latin typeface="Inter"/>
              <a:ea typeface="Inter"/>
              <a:cs typeface="Inter"/>
              <a:sym typeface="Inter"/>
            </a:endParaRPr>
          </a:p>
          <a:p>
            <a:pPr indent="0" lvl="0" marL="0" marR="0" rtl="0" algn="ctr">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Integrantes: Agustín Valenzuela, Cristóbal Barros, Diego Silva</a:t>
            </a:r>
            <a:endParaRPr b="0" i="0" sz="1750" u="none" cap="none" strike="noStrike"/>
          </a:p>
        </p:txBody>
      </p:sp>
      <p:pic>
        <p:nvPicPr>
          <p:cNvPr id="59" name="Google Shape;59;p1"/>
          <p:cNvPicPr preferRelativeResize="0"/>
          <p:nvPr/>
        </p:nvPicPr>
        <p:blipFill>
          <a:blip r:embed="rId4">
            <a:alphaModFix/>
          </a:blip>
          <a:stretch>
            <a:fillRect/>
          </a:stretch>
        </p:blipFill>
        <p:spPr>
          <a:xfrm>
            <a:off x="2575475" y="139750"/>
            <a:ext cx="3993048" cy="342335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p:nvPr/>
        </p:nvSpPr>
        <p:spPr>
          <a:xfrm>
            <a:off x="7507394" y="3403203"/>
            <a:ext cx="510300" cy="510300"/>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2067890" y="354867"/>
            <a:ext cx="10494600" cy="708900"/>
          </a:xfrm>
          <a:prstGeom prst="rect">
            <a:avLst/>
          </a:prstGeom>
          <a:noFill/>
          <a:ln>
            <a:noFill/>
          </a:ln>
        </p:spPr>
        <p:txBody>
          <a:bodyPr anchorCtr="0" anchor="t" bIns="0" lIns="0" spcFirstLastPara="1" rIns="0" wrap="square" tIns="0">
            <a:noAutofit/>
          </a:bodyPr>
          <a:lstStyle/>
          <a:p>
            <a:pPr indent="0" lvl="0" marL="0" rtl="0" algn="l">
              <a:lnSpc>
                <a:spcPct val="124691"/>
              </a:lnSpc>
              <a:spcBef>
                <a:spcPts val="0"/>
              </a:spcBef>
              <a:spcAft>
                <a:spcPts val="0"/>
              </a:spcAft>
              <a:buClr>
                <a:schemeClr val="dk1"/>
              </a:buClr>
              <a:buSzPts val="4050"/>
              <a:buFont typeface="Inter"/>
              <a:buNone/>
            </a:pPr>
            <a:r>
              <a:rPr b="1" lang="en-US" sz="4050">
                <a:solidFill>
                  <a:schemeClr val="dk1"/>
                </a:solidFill>
                <a:latin typeface="Inter"/>
                <a:ea typeface="Inter"/>
                <a:cs typeface="Inter"/>
                <a:sym typeface="Inter"/>
              </a:rPr>
              <a:t>Descripción breve del proyecto</a:t>
            </a:r>
            <a:endParaRPr b="1" sz="4450">
              <a:latin typeface="Inter"/>
              <a:ea typeface="Inter"/>
              <a:cs typeface="Inter"/>
              <a:sym typeface="Inter"/>
            </a:endParaRPr>
          </a:p>
        </p:txBody>
      </p:sp>
      <p:sp>
        <p:nvSpPr>
          <p:cNvPr id="67" name="Google Shape;67;p2"/>
          <p:cNvSpPr/>
          <p:nvPr/>
        </p:nvSpPr>
        <p:spPr>
          <a:xfrm>
            <a:off x="793790" y="1519471"/>
            <a:ext cx="130428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CaninosLook</a:t>
            </a:r>
            <a:r>
              <a:rPr b="0" i="0" lang="en-US" sz="1750" u="none" cap="none" strike="noStrike">
                <a:solidFill>
                  <a:srgbClr val="272525"/>
                </a:solidFill>
                <a:latin typeface="Inter"/>
                <a:ea typeface="Inter"/>
                <a:cs typeface="Inter"/>
                <a:sym typeface="Inter"/>
              </a:rPr>
              <a:t> es una solución digital integral diseñada para modernizar la gestión de una peluquería canina en Maipú. Este proyecto se materializa en una aplicación web responsiva, optimizando procesos clave como la agenda de citas, notificaciones a clientes, registro de información y pagos en línea, entre otros.</a:t>
            </a:r>
            <a:endParaRPr b="0" i="0" sz="1750" u="none" cap="none" strike="noStrike"/>
          </a:p>
        </p:txBody>
      </p:sp>
      <p:sp>
        <p:nvSpPr>
          <p:cNvPr id="68" name="Google Shape;68;p2"/>
          <p:cNvSpPr/>
          <p:nvPr/>
        </p:nvSpPr>
        <p:spPr>
          <a:xfrm>
            <a:off x="1291213" y="3403206"/>
            <a:ext cx="510300" cy="510300"/>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2"/>
          <p:cNvPicPr preferRelativeResize="0"/>
          <p:nvPr/>
        </p:nvPicPr>
        <p:blipFill rotWithShape="1">
          <a:blip r:embed="rId3">
            <a:alphaModFix/>
          </a:blip>
          <a:srcRect b="0" l="0" r="0" t="0"/>
          <a:stretch/>
        </p:blipFill>
        <p:spPr>
          <a:xfrm>
            <a:off x="1376283" y="3445711"/>
            <a:ext cx="340162" cy="425291"/>
          </a:xfrm>
          <a:prstGeom prst="rect">
            <a:avLst/>
          </a:prstGeom>
          <a:noFill/>
          <a:ln>
            <a:noFill/>
          </a:ln>
        </p:spPr>
      </p:pic>
      <p:sp>
        <p:nvSpPr>
          <p:cNvPr id="70" name="Google Shape;70;p2"/>
          <p:cNvSpPr/>
          <p:nvPr/>
        </p:nvSpPr>
        <p:spPr>
          <a:xfrm>
            <a:off x="2028329" y="3481073"/>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Agenda Online</a:t>
            </a:r>
            <a:endParaRPr b="0" i="0" sz="2200" u="none" cap="none" strike="noStrike"/>
          </a:p>
        </p:txBody>
      </p:sp>
      <p:sp>
        <p:nvSpPr>
          <p:cNvPr id="71" name="Google Shape;71;p2"/>
          <p:cNvSpPr/>
          <p:nvPr/>
        </p:nvSpPr>
        <p:spPr>
          <a:xfrm>
            <a:off x="2028329" y="3971491"/>
            <a:ext cx="5642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Reservas y gestión de citas simplificadas.</a:t>
            </a:r>
            <a:endParaRPr b="0" i="0" sz="1750" u="none" cap="none" strike="noStrike"/>
          </a:p>
        </p:txBody>
      </p:sp>
      <p:sp>
        <p:nvSpPr>
          <p:cNvPr id="72" name="Google Shape;72;p2"/>
          <p:cNvSpPr/>
          <p:nvPr/>
        </p:nvSpPr>
        <p:spPr>
          <a:xfrm>
            <a:off x="7507394" y="5006253"/>
            <a:ext cx="510300" cy="510300"/>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2"/>
          <p:cNvPicPr preferRelativeResize="0"/>
          <p:nvPr/>
        </p:nvPicPr>
        <p:blipFill rotWithShape="1">
          <a:blip r:embed="rId4">
            <a:alphaModFix/>
          </a:blip>
          <a:srcRect b="0" l="0" r="0" t="0"/>
          <a:stretch/>
        </p:blipFill>
        <p:spPr>
          <a:xfrm>
            <a:off x="7592465" y="5048758"/>
            <a:ext cx="340162" cy="425291"/>
          </a:xfrm>
          <a:prstGeom prst="rect">
            <a:avLst/>
          </a:prstGeom>
          <a:noFill/>
          <a:ln>
            <a:noFill/>
          </a:ln>
        </p:spPr>
      </p:pic>
      <p:sp>
        <p:nvSpPr>
          <p:cNvPr id="74" name="Google Shape;74;p2"/>
          <p:cNvSpPr/>
          <p:nvPr/>
        </p:nvSpPr>
        <p:spPr>
          <a:xfrm>
            <a:off x="8244510" y="5084120"/>
            <a:ext cx="38439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Notificaciones Automáticas</a:t>
            </a:r>
            <a:endParaRPr b="0" i="0" sz="2200" u="none" cap="none" strike="noStrike"/>
          </a:p>
        </p:txBody>
      </p:sp>
      <p:sp>
        <p:nvSpPr>
          <p:cNvPr id="75" name="Google Shape;75;p2"/>
          <p:cNvSpPr/>
          <p:nvPr/>
        </p:nvSpPr>
        <p:spPr>
          <a:xfrm>
            <a:off x="8244510" y="5574538"/>
            <a:ext cx="56427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Comunicación fluida con los clientes.</a:t>
            </a:r>
            <a:endParaRPr b="0" i="0" sz="1750" u="none" cap="none" strike="noStrike"/>
          </a:p>
        </p:txBody>
      </p:sp>
      <p:sp>
        <p:nvSpPr>
          <p:cNvPr id="76" name="Google Shape;76;p2"/>
          <p:cNvSpPr/>
          <p:nvPr/>
        </p:nvSpPr>
        <p:spPr>
          <a:xfrm>
            <a:off x="1291213" y="4994727"/>
            <a:ext cx="510300" cy="510300"/>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2"/>
          <p:cNvPicPr preferRelativeResize="0"/>
          <p:nvPr/>
        </p:nvPicPr>
        <p:blipFill rotWithShape="1">
          <a:blip r:embed="rId5">
            <a:alphaModFix/>
          </a:blip>
          <a:srcRect b="0" l="0" r="0" t="0"/>
          <a:stretch/>
        </p:blipFill>
        <p:spPr>
          <a:xfrm>
            <a:off x="1376283" y="5006118"/>
            <a:ext cx="340162" cy="425291"/>
          </a:xfrm>
          <a:prstGeom prst="rect">
            <a:avLst/>
          </a:prstGeom>
          <a:noFill/>
          <a:ln>
            <a:noFill/>
          </a:ln>
        </p:spPr>
      </p:pic>
      <p:sp>
        <p:nvSpPr>
          <p:cNvPr id="78" name="Google Shape;78;p2"/>
          <p:cNvSpPr/>
          <p:nvPr/>
        </p:nvSpPr>
        <p:spPr>
          <a:xfrm>
            <a:off x="2028329" y="5041480"/>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Registro Detallado</a:t>
            </a:r>
            <a:endParaRPr b="0" i="0" sz="2200" u="none" cap="none" strike="noStrike"/>
          </a:p>
        </p:txBody>
      </p:sp>
      <p:sp>
        <p:nvSpPr>
          <p:cNvPr id="79" name="Google Shape;79;p2"/>
          <p:cNvSpPr/>
          <p:nvPr/>
        </p:nvSpPr>
        <p:spPr>
          <a:xfrm>
            <a:off x="2028329" y="5531898"/>
            <a:ext cx="5642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Clientes y mascotas centralizados.</a:t>
            </a:r>
            <a:endParaRPr b="0" i="0" sz="1750" u="none" cap="none" strike="noStrike"/>
          </a:p>
        </p:txBody>
      </p:sp>
      <p:sp>
        <p:nvSpPr>
          <p:cNvPr id="80" name="Google Shape;80;p2"/>
          <p:cNvSpPr/>
          <p:nvPr/>
        </p:nvSpPr>
        <p:spPr>
          <a:xfrm>
            <a:off x="7507394" y="6535546"/>
            <a:ext cx="510300" cy="510300"/>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 name="Google Shape;81;p2"/>
          <p:cNvPicPr preferRelativeResize="0"/>
          <p:nvPr/>
        </p:nvPicPr>
        <p:blipFill rotWithShape="1">
          <a:blip r:embed="rId6">
            <a:alphaModFix/>
          </a:blip>
          <a:srcRect b="0" l="0" r="0" t="0"/>
          <a:stretch/>
        </p:blipFill>
        <p:spPr>
          <a:xfrm>
            <a:off x="7592465" y="6578051"/>
            <a:ext cx="340162" cy="425291"/>
          </a:xfrm>
          <a:prstGeom prst="rect">
            <a:avLst/>
          </a:prstGeom>
          <a:noFill/>
          <a:ln>
            <a:noFill/>
          </a:ln>
        </p:spPr>
      </p:pic>
      <p:sp>
        <p:nvSpPr>
          <p:cNvPr id="82" name="Google Shape;82;p2"/>
          <p:cNvSpPr/>
          <p:nvPr/>
        </p:nvSpPr>
        <p:spPr>
          <a:xfrm>
            <a:off x="8244510" y="6613413"/>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i="0" lang="en-US" sz="2200" u="none" cap="none" strike="noStrike">
                <a:solidFill>
                  <a:srgbClr val="272525"/>
                </a:solidFill>
                <a:latin typeface="Inter"/>
                <a:ea typeface="Inter"/>
                <a:cs typeface="Inter"/>
                <a:sym typeface="Inter"/>
              </a:rPr>
              <a:t>Pago en Línea</a:t>
            </a:r>
            <a:endParaRPr b="0" i="0" sz="2200" u="none" cap="none" strike="noStrike"/>
          </a:p>
        </p:txBody>
      </p:sp>
      <p:sp>
        <p:nvSpPr>
          <p:cNvPr id="83" name="Google Shape;83;p2"/>
          <p:cNvSpPr/>
          <p:nvPr/>
        </p:nvSpPr>
        <p:spPr>
          <a:xfrm>
            <a:off x="8244510" y="7103831"/>
            <a:ext cx="56427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Transacciones seguras y eficientes.</a:t>
            </a:r>
            <a:endParaRPr b="0" i="0" sz="1750" u="none" cap="none" strike="noStrike"/>
          </a:p>
        </p:txBody>
      </p:sp>
      <p:sp>
        <p:nvSpPr>
          <p:cNvPr id="84" name="Google Shape;84;p2"/>
          <p:cNvSpPr/>
          <p:nvPr/>
        </p:nvSpPr>
        <p:spPr>
          <a:xfrm>
            <a:off x="12873600" y="7520700"/>
            <a:ext cx="1756800" cy="70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5" name="Google Shape;85;p2"/>
          <p:cNvSpPr/>
          <p:nvPr/>
        </p:nvSpPr>
        <p:spPr>
          <a:xfrm>
            <a:off x="1291217" y="6518971"/>
            <a:ext cx="510300" cy="510300"/>
          </a:xfrm>
          <a:prstGeom prst="roundRect">
            <a:avLst>
              <a:gd fmla="val 18669" name="adj"/>
            </a:avLst>
          </a:prstGeom>
          <a:solidFill>
            <a:srgbClr val="DADBF1"/>
          </a:solidFill>
          <a:ln cap="flat" cmpd="sng" w="9525">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6" name="Google Shape;86;p2"/>
          <p:cNvPicPr preferRelativeResize="0"/>
          <p:nvPr/>
        </p:nvPicPr>
        <p:blipFill rotWithShape="1">
          <a:blip r:embed="rId4">
            <a:alphaModFix/>
          </a:blip>
          <a:srcRect b="0" l="0" r="0" t="0"/>
          <a:stretch/>
        </p:blipFill>
        <p:spPr>
          <a:xfrm>
            <a:off x="1376288" y="6561476"/>
            <a:ext cx="340162" cy="425291"/>
          </a:xfrm>
          <a:prstGeom prst="rect">
            <a:avLst/>
          </a:prstGeom>
          <a:noFill/>
          <a:ln>
            <a:noFill/>
          </a:ln>
        </p:spPr>
      </p:pic>
      <p:sp>
        <p:nvSpPr>
          <p:cNvPr id="87" name="Google Shape;87;p2"/>
          <p:cNvSpPr/>
          <p:nvPr/>
        </p:nvSpPr>
        <p:spPr>
          <a:xfrm>
            <a:off x="2028333" y="6596838"/>
            <a:ext cx="38439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lang="en-US" sz="2200">
                <a:solidFill>
                  <a:srgbClr val="272525"/>
                </a:solidFill>
                <a:latin typeface="Inter"/>
                <a:ea typeface="Inter"/>
                <a:cs typeface="Inter"/>
                <a:sym typeface="Inter"/>
              </a:rPr>
              <a:t>Diseño responsive</a:t>
            </a:r>
            <a:endParaRPr b="0" i="0" sz="2200" u="none" cap="none" strike="noStrike"/>
          </a:p>
        </p:txBody>
      </p:sp>
      <p:sp>
        <p:nvSpPr>
          <p:cNvPr id="88" name="Google Shape;88;p2"/>
          <p:cNvSpPr/>
          <p:nvPr/>
        </p:nvSpPr>
        <p:spPr>
          <a:xfrm>
            <a:off x="2028333" y="7087256"/>
            <a:ext cx="56427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lang="en-US" sz="1750">
                <a:solidFill>
                  <a:srgbClr val="272525"/>
                </a:solidFill>
                <a:latin typeface="Inter"/>
                <a:ea typeface="Inter"/>
                <a:cs typeface="Inter"/>
                <a:sym typeface="Inter"/>
              </a:rPr>
              <a:t>Acceso desde cualquier dispositivo.</a:t>
            </a:r>
            <a:endParaRPr b="0" i="0" sz="1750" u="none" cap="none" strike="noStrike"/>
          </a:p>
        </p:txBody>
      </p:sp>
      <p:sp>
        <p:nvSpPr>
          <p:cNvPr id="89" name="Google Shape;89;p2"/>
          <p:cNvSpPr/>
          <p:nvPr/>
        </p:nvSpPr>
        <p:spPr>
          <a:xfrm>
            <a:off x="8244650" y="3419500"/>
            <a:ext cx="31866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2200"/>
              <a:buFont typeface="Inter"/>
              <a:buNone/>
            </a:pPr>
            <a:r>
              <a:rPr b="1" lang="en-US" sz="2200">
                <a:solidFill>
                  <a:srgbClr val="272525"/>
                </a:solidFill>
                <a:latin typeface="Inter"/>
                <a:ea typeface="Inter"/>
                <a:cs typeface="Inter"/>
                <a:sym typeface="Inter"/>
              </a:rPr>
              <a:t>Panel administrativo.</a:t>
            </a:r>
            <a:endParaRPr b="0" i="0" sz="2200" u="none" cap="none" strike="noStrike"/>
          </a:p>
        </p:txBody>
      </p:sp>
      <p:sp>
        <p:nvSpPr>
          <p:cNvPr id="90" name="Google Shape;90;p2"/>
          <p:cNvSpPr/>
          <p:nvPr/>
        </p:nvSpPr>
        <p:spPr>
          <a:xfrm>
            <a:off x="8244654" y="3909916"/>
            <a:ext cx="5642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lang="en-US" sz="1750">
                <a:solidFill>
                  <a:srgbClr val="272525"/>
                </a:solidFill>
                <a:latin typeface="Inter"/>
                <a:ea typeface="Inter"/>
                <a:cs typeface="Inter"/>
                <a:sym typeface="Inter"/>
              </a:rPr>
              <a:t>Gestionar citas, clientes, servicios y reportes.</a:t>
            </a:r>
            <a:endParaRPr b="0" i="0" sz="1750" u="none" cap="none" strike="noStrike"/>
          </a:p>
        </p:txBody>
      </p:sp>
      <p:pic>
        <p:nvPicPr>
          <p:cNvPr id="91" name="Google Shape;91;p2" title="NicePng_report-icon-png_2088186.png"/>
          <p:cNvPicPr preferRelativeResize="0"/>
          <p:nvPr/>
        </p:nvPicPr>
        <p:blipFill>
          <a:blip r:embed="rId7">
            <a:alphaModFix/>
          </a:blip>
          <a:stretch>
            <a:fillRect/>
          </a:stretch>
        </p:blipFill>
        <p:spPr>
          <a:xfrm>
            <a:off x="7592462" y="3458850"/>
            <a:ext cx="340175" cy="3987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
          <p:cNvSpPr/>
          <p:nvPr/>
        </p:nvSpPr>
        <p:spPr>
          <a:xfrm>
            <a:off x="735925" y="1086326"/>
            <a:ext cx="11068526" cy="656987"/>
          </a:xfrm>
          <a:prstGeom prst="rect">
            <a:avLst/>
          </a:prstGeom>
          <a:noFill/>
          <a:ln>
            <a:noFill/>
          </a:ln>
        </p:spPr>
        <p:txBody>
          <a:bodyPr anchorCtr="0" anchor="t" bIns="0" lIns="0" spcFirstLastPara="1" rIns="0" wrap="square" tIns="0">
            <a:noAutofit/>
          </a:bodyPr>
          <a:lstStyle/>
          <a:p>
            <a:pPr indent="0" lvl="0" marL="0" marR="0" rtl="0" algn="l">
              <a:lnSpc>
                <a:spcPct val="125609"/>
              </a:lnSpc>
              <a:spcBef>
                <a:spcPts val="0"/>
              </a:spcBef>
              <a:spcAft>
                <a:spcPts val="0"/>
              </a:spcAft>
              <a:buClr>
                <a:srgbClr val="000000"/>
              </a:buClr>
              <a:buSzPts val="4100"/>
              <a:buFont typeface="Inter"/>
              <a:buNone/>
            </a:pPr>
            <a:r>
              <a:rPr b="1" i="0" lang="en-US" sz="4100" u="none" cap="none" strike="noStrike">
                <a:solidFill>
                  <a:srgbClr val="000000"/>
                </a:solidFill>
                <a:latin typeface="Inter"/>
                <a:ea typeface="Inter"/>
                <a:cs typeface="Inter"/>
                <a:sym typeface="Inter"/>
              </a:rPr>
              <a:t>Relación con el Perfil de Egreso Profesional</a:t>
            </a:r>
            <a:endParaRPr b="0" i="0" sz="4100" u="none" cap="none" strike="noStrike"/>
          </a:p>
        </p:txBody>
      </p:sp>
      <p:sp>
        <p:nvSpPr>
          <p:cNvPr id="98" name="Google Shape;98;p4"/>
          <p:cNvSpPr/>
          <p:nvPr/>
        </p:nvSpPr>
        <p:spPr>
          <a:xfrm>
            <a:off x="735925" y="2163842"/>
            <a:ext cx="13158549" cy="672703"/>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El desarrollo de CaninosLook es una aplicación práctica de diversas competencias adquiridas durante la formación en informática e ingeniería, reforzando las habilidades críticas para nuestro perfil de egreso.</a:t>
            </a:r>
            <a:endParaRPr b="0" i="0" sz="1650" u="none" cap="none" strike="noStrike"/>
          </a:p>
        </p:txBody>
      </p:sp>
      <p:sp>
        <p:nvSpPr>
          <p:cNvPr id="99" name="Google Shape;99;p4"/>
          <p:cNvSpPr/>
          <p:nvPr/>
        </p:nvSpPr>
        <p:spPr>
          <a:xfrm>
            <a:off x="735925" y="3384141"/>
            <a:ext cx="4245900" cy="1929900"/>
          </a:xfrm>
          <a:prstGeom prst="roundRect">
            <a:avLst>
              <a:gd fmla="val 5685" name="adj"/>
            </a:avLst>
          </a:prstGeom>
          <a:solidFill>
            <a:srgbClr val="FFFFFF"/>
          </a:solidFill>
          <a:ln cap="flat" cmpd="sng" w="22850">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713065" y="3384141"/>
            <a:ext cx="91500" cy="1929900"/>
          </a:xfrm>
          <a:prstGeom prst="roundRect">
            <a:avLst>
              <a:gd fmla="val 9658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1037630" y="3617266"/>
            <a:ext cx="3491100" cy="3285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Análisis de Requerimientos</a:t>
            </a:r>
            <a:endParaRPr b="0" i="0" sz="2050" u="none" cap="none" strike="noStrike"/>
          </a:p>
        </p:txBody>
      </p:sp>
      <p:sp>
        <p:nvSpPr>
          <p:cNvPr id="102" name="Google Shape;102;p4"/>
          <p:cNvSpPr/>
          <p:nvPr/>
        </p:nvSpPr>
        <p:spPr>
          <a:xfrm>
            <a:off x="1037630" y="4071965"/>
            <a:ext cx="3711300" cy="10092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Identificación y documentación de las necesidades del negocio para el sistema.</a:t>
            </a:r>
            <a:endParaRPr b="0" i="0" sz="1650" u="none" cap="none" strike="noStrike"/>
          </a:p>
        </p:txBody>
      </p:sp>
      <p:sp>
        <p:nvSpPr>
          <p:cNvPr id="103" name="Google Shape;103;p4"/>
          <p:cNvSpPr/>
          <p:nvPr/>
        </p:nvSpPr>
        <p:spPr>
          <a:xfrm>
            <a:off x="5192197" y="3384141"/>
            <a:ext cx="4245900" cy="1929900"/>
          </a:xfrm>
          <a:prstGeom prst="roundRect">
            <a:avLst>
              <a:gd fmla="val 5685" name="adj"/>
            </a:avLst>
          </a:prstGeom>
          <a:solidFill>
            <a:srgbClr val="FFFFFF"/>
          </a:solidFill>
          <a:ln cap="flat" cmpd="sng" w="22850">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5169337" y="3384141"/>
            <a:ext cx="91500" cy="1929900"/>
          </a:xfrm>
          <a:prstGeom prst="roundRect">
            <a:avLst>
              <a:gd fmla="val 9658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5493901" y="3617266"/>
            <a:ext cx="2928300" cy="3285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Desarrollo de Software</a:t>
            </a:r>
            <a:endParaRPr b="0" i="0" sz="2050" u="none" cap="none" strike="noStrike"/>
          </a:p>
        </p:txBody>
      </p:sp>
      <p:sp>
        <p:nvSpPr>
          <p:cNvPr id="106" name="Google Shape;106;p4"/>
          <p:cNvSpPr/>
          <p:nvPr/>
        </p:nvSpPr>
        <p:spPr>
          <a:xfrm>
            <a:off x="5493901" y="4071965"/>
            <a:ext cx="3711300" cy="10092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Implementación de la aplicación web utilizando frameworks y lenguajes modernos.</a:t>
            </a:r>
            <a:endParaRPr b="0" i="0" sz="1650" u="none" cap="none" strike="noStrike"/>
          </a:p>
        </p:txBody>
      </p:sp>
      <p:sp>
        <p:nvSpPr>
          <p:cNvPr id="107" name="Google Shape;107;p4"/>
          <p:cNvSpPr/>
          <p:nvPr/>
        </p:nvSpPr>
        <p:spPr>
          <a:xfrm>
            <a:off x="9648468" y="3384141"/>
            <a:ext cx="4245900" cy="1929900"/>
          </a:xfrm>
          <a:prstGeom prst="roundRect">
            <a:avLst>
              <a:gd fmla="val 5685" name="adj"/>
            </a:avLst>
          </a:prstGeom>
          <a:solidFill>
            <a:srgbClr val="FFFFFF"/>
          </a:solidFill>
          <a:ln cap="flat" cmpd="sng" w="22850">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9625608" y="3384141"/>
            <a:ext cx="91500" cy="1929900"/>
          </a:xfrm>
          <a:prstGeom prst="roundRect">
            <a:avLst>
              <a:gd fmla="val 9658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9950172" y="3617266"/>
            <a:ext cx="2733600" cy="3285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Gestión de Proyectos</a:t>
            </a:r>
            <a:endParaRPr b="0" i="0" sz="2050" u="none" cap="none" strike="noStrike"/>
          </a:p>
        </p:txBody>
      </p:sp>
      <p:sp>
        <p:nvSpPr>
          <p:cNvPr id="110" name="Google Shape;110;p4"/>
          <p:cNvSpPr/>
          <p:nvPr/>
        </p:nvSpPr>
        <p:spPr>
          <a:xfrm>
            <a:off x="9950172" y="4071965"/>
            <a:ext cx="3711300" cy="10092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Aplicación de metodologías ágiles para una planificación y ejecución efectivas.</a:t>
            </a:r>
            <a:endParaRPr b="0" i="0" sz="1650" u="none" cap="none" strike="noStrike"/>
          </a:p>
        </p:txBody>
      </p:sp>
      <p:sp>
        <p:nvSpPr>
          <p:cNvPr id="111" name="Google Shape;111;p4"/>
          <p:cNvSpPr/>
          <p:nvPr/>
        </p:nvSpPr>
        <p:spPr>
          <a:xfrm>
            <a:off x="735925" y="5524409"/>
            <a:ext cx="4245900" cy="1929900"/>
          </a:xfrm>
          <a:prstGeom prst="roundRect">
            <a:avLst>
              <a:gd fmla="val 5685" name="adj"/>
            </a:avLst>
          </a:prstGeom>
          <a:solidFill>
            <a:srgbClr val="FFFFFF"/>
          </a:solidFill>
          <a:ln cap="flat" cmpd="sng" w="22850">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713065" y="5524409"/>
            <a:ext cx="91500" cy="1929900"/>
          </a:xfrm>
          <a:prstGeom prst="roundRect">
            <a:avLst>
              <a:gd fmla="val 9658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037630" y="5757533"/>
            <a:ext cx="3634800" cy="3285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Diseño de Modelos de Datos</a:t>
            </a:r>
            <a:endParaRPr b="0" i="0" sz="2050" u="none" cap="none" strike="noStrike"/>
          </a:p>
        </p:txBody>
      </p:sp>
      <p:sp>
        <p:nvSpPr>
          <p:cNvPr id="114" name="Google Shape;114;p4"/>
          <p:cNvSpPr/>
          <p:nvPr/>
        </p:nvSpPr>
        <p:spPr>
          <a:xfrm>
            <a:off x="1037630" y="6212233"/>
            <a:ext cx="3711300" cy="10092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Estructuración eficiente de la base de datos para la información de clientes y mascotas.</a:t>
            </a:r>
            <a:endParaRPr b="0" i="0" sz="1650" u="none" cap="none" strike="noStrike"/>
          </a:p>
        </p:txBody>
      </p:sp>
      <p:sp>
        <p:nvSpPr>
          <p:cNvPr id="115" name="Google Shape;115;p4"/>
          <p:cNvSpPr/>
          <p:nvPr/>
        </p:nvSpPr>
        <p:spPr>
          <a:xfrm>
            <a:off x="5192197" y="5524409"/>
            <a:ext cx="4245900" cy="1929900"/>
          </a:xfrm>
          <a:prstGeom prst="roundRect">
            <a:avLst>
              <a:gd fmla="val 5685" name="adj"/>
            </a:avLst>
          </a:prstGeom>
          <a:solidFill>
            <a:srgbClr val="FFFFFF"/>
          </a:solidFill>
          <a:ln cap="flat" cmpd="sng" w="22850">
            <a:solidFill>
              <a:srgbClr val="C0C1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169337" y="5524409"/>
            <a:ext cx="91500" cy="1929900"/>
          </a:xfrm>
          <a:prstGeom prst="roundRect">
            <a:avLst>
              <a:gd fmla="val 96585"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5493901" y="5757533"/>
            <a:ext cx="2859600" cy="3285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272525"/>
              </a:buClr>
              <a:buSzPts val="2050"/>
              <a:buFont typeface="Inter"/>
              <a:buNone/>
            </a:pPr>
            <a:r>
              <a:rPr b="1" i="0" lang="en-US" sz="2050" u="none" cap="none" strike="noStrike">
                <a:solidFill>
                  <a:srgbClr val="272525"/>
                </a:solidFill>
                <a:latin typeface="Inter"/>
                <a:ea typeface="Inter"/>
                <a:cs typeface="Inter"/>
                <a:sym typeface="Inter"/>
              </a:rPr>
              <a:t>Seguridad Informática</a:t>
            </a:r>
            <a:endParaRPr b="0" i="0" sz="2050" u="none" cap="none" strike="noStrike"/>
          </a:p>
        </p:txBody>
      </p:sp>
      <p:sp>
        <p:nvSpPr>
          <p:cNvPr id="118" name="Google Shape;118;p4"/>
          <p:cNvSpPr/>
          <p:nvPr/>
        </p:nvSpPr>
        <p:spPr>
          <a:xfrm>
            <a:off x="5493901" y="6212233"/>
            <a:ext cx="3711300" cy="10092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272525"/>
              </a:buClr>
              <a:buSzPts val="1650"/>
              <a:buFont typeface="Inter"/>
              <a:buNone/>
            </a:pPr>
            <a:r>
              <a:rPr b="0" i="0" lang="en-US" sz="1650" u="none" cap="none" strike="noStrike">
                <a:solidFill>
                  <a:srgbClr val="272525"/>
                </a:solidFill>
                <a:latin typeface="Inter"/>
                <a:ea typeface="Inter"/>
                <a:cs typeface="Inter"/>
                <a:sym typeface="Inter"/>
              </a:rPr>
              <a:t>Implementación de medidas para proteger la información sensible del sistema.</a:t>
            </a:r>
            <a:endParaRPr b="0" i="0" sz="1650" u="none" cap="none" strike="noStrike"/>
          </a:p>
        </p:txBody>
      </p:sp>
      <p:sp>
        <p:nvSpPr>
          <p:cNvPr id="119" name="Google Shape;119;p4"/>
          <p:cNvSpPr/>
          <p:nvPr/>
        </p:nvSpPr>
        <p:spPr>
          <a:xfrm>
            <a:off x="0" y="7576100"/>
            <a:ext cx="14532000" cy="70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preencoded.png" id="125" name="Google Shape;125;p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26" name="Google Shape;126;p5"/>
          <p:cNvSpPr/>
          <p:nvPr/>
        </p:nvSpPr>
        <p:spPr>
          <a:xfrm>
            <a:off x="6134338" y="579715"/>
            <a:ext cx="7848124" cy="1157288"/>
          </a:xfrm>
          <a:prstGeom prst="rect">
            <a:avLst/>
          </a:prstGeom>
          <a:noFill/>
          <a:ln>
            <a:noFill/>
          </a:ln>
        </p:spPr>
        <p:txBody>
          <a:bodyPr anchorCtr="0" anchor="t" bIns="0" lIns="0" spcFirstLastPara="1" rIns="0" wrap="square" tIns="0">
            <a:noAutofit/>
          </a:bodyPr>
          <a:lstStyle/>
          <a:p>
            <a:pPr indent="0" lvl="0" marL="0" marR="0" rtl="0" algn="l">
              <a:lnSpc>
                <a:spcPct val="126388"/>
              </a:lnSpc>
              <a:spcBef>
                <a:spcPts val="0"/>
              </a:spcBef>
              <a:spcAft>
                <a:spcPts val="0"/>
              </a:spcAft>
              <a:buClr>
                <a:srgbClr val="000000"/>
              </a:buClr>
              <a:buSzPts val="3600"/>
              <a:buFont typeface="Inter"/>
              <a:buNone/>
            </a:pPr>
            <a:r>
              <a:rPr b="1" i="0" lang="en-US" sz="3600" u="none" cap="none" strike="noStrike">
                <a:solidFill>
                  <a:srgbClr val="000000"/>
                </a:solidFill>
                <a:latin typeface="Inter"/>
                <a:ea typeface="Inter"/>
                <a:cs typeface="Inter"/>
                <a:sym typeface="Inter"/>
              </a:rPr>
              <a:t>Factibilidad y Recursos del Proyecto</a:t>
            </a:r>
            <a:endParaRPr b="0" i="0" sz="3600" u="none" cap="none" strike="noStrike"/>
          </a:p>
        </p:txBody>
      </p:sp>
      <p:sp>
        <p:nvSpPr>
          <p:cNvPr id="127" name="Google Shape;127;p5"/>
          <p:cNvSpPr/>
          <p:nvPr/>
        </p:nvSpPr>
        <p:spPr>
          <a:xfrm>
            <a:off x="6134338" y="2014657"/>
            <a:ext cx="7848124" cy="88868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0" i="0" lang="en-US" sz="1450" u="none" cap="none" strike="noStrike">
                <a:solidFill>
                  <a:srgbClr val="272525"/>
                </a:solidFill>
                <a:latin typeface="Inter"/>
                <a:ea typeface="Inter"/>
                <a:cs typeface="Inter"/>
                <a:sym typeface="Inter"/>
              </a:rPr>
              <a:t>La viabilidad de CaninosLook en el marco de la asignatura se sustenta en una planificación sólida y la disponibilidad de recursos adecuados, considerando tanto las oportunidades como los desafíos técnicos.</a:t>
            </a:r>
            <a:endParaRPr b="0" i="0" sz="1450" u="none" cap="none" strike="noStrike"/>
          </a:p>
        </p:txBody>
      </p:sp>
      <p:sp>
        <p:nvSpPr>
          <p:cNvPr id="128" name="Google Shape;128;p5"/>
          <p:cNvSpPr/>
          <p:nvPr/>
        </p:nvSpPr>
        <p:spPr>
          <a:xfrm>
            <a:off x="6134338" y="3296722"/>
            <a:ext cx="2446734" cy="28932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800"/>
              <a:buFont typeface="Inter"/>
              <a:buNone/>
            </a:pPr>
            <a:r>
              <a:rPr b="1" i="0" lang="en-US" sz="1800" u="none" cap="none" strike="noStrike">
                <a:solidFill>
                  <a:srgbClr val="000000"/>
                </a:solidFill>
                <a:latin typeface="Inter"/>
                <a:ea typeface="Inter"/>
                <a:cs typeface="Inter"/>
                <a:sym typeface="Inter"/>
              </a:rPr>
              <a:t>Recursos Disponibles</a:t>
            </a:r>
            <a:endParaRPr b="0" i="0" sz="1800" u="none" cap="none" strike="noStrike"/>
          </a:p>
        </p:txBody>
      </p:sp>
      <p:sp>
        <p:nvSpPr>
          <p:cNvPr id="129" name="Google Shape;129;p5"/>
          <p:cNvSpPr/>
          <p:nvPr/>
        </p:nvSpPr>
        <p:spPr>
          <a:xfrm>
            <a:off x="6134338" y="3771186"/>
            <a:ext cx="3698200" cy="592455"/>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Tiempo:</a:t>
            </a:r>
            <a:r>
              <a:rPr b="0" i="0" lang="en-US" sz="1450" u="none" cap="none" strike="noStrike">
                <a:solidFill>
                  <a:srgbClr val="272525"/>
                </a:solidFill>
                <a:latin typeface="Inter"/>
                <a:ea typeface="Inter"/>
                <a:cs typeface="Inter"/>
                <a:sym typeface="Inter"/>
              </a:rPr>
              <a:t> 18 semanas de dedicación exclusiva al proyecto.</a:t>
            </a:r>
            <a:endParaRPr b="0" i="0" sz="1450" u="none" cap="none" strike="noStrike"/>
          </a:p>
        </p:txBody>
      </p:sp>
      <p:sp>
        <p:nvSpPr>
          <p:cNvPr id="130" name="Google Shape;130;p5"/>
          <p:cNvSpPr/>
          <p:nvPr/>
        </p:nvSpPr>
        <p:spPr>
          <a:xfrm>
            <a:off x="6134338" y="4428411"/>
            <a:ext cx="3698200" cy="592455"/>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Hardware:</a:t>
            </a:r>
            <a:r>
              <a:rPr b="0" i="0" lang="en-US" sz="1450" u="none" cap="none" strike="noStrike">
                <a:solidFill>
                  <a:srgbClr val="272525"/>
                </a:solidFill>
                <a:latin typeface="Inter"/>
                <a:ea typeface="Inter"/>
                <a:cs typeface="Inter"/>
                <a:sym typeface="Inter"/>
              </a:rPr>
              <a:t> Notebooks personales con capacidad suficiente.</a:t>
            </a:r>
            <a:endParaRPr b="0" i="0" sz="1450" u="none" cap="none" strike="noStrike"/>
          </a:p>
        </p:txBody>
      </p:sp>
      <p:sp>
        <p:nvSpPr>
          <p:cNvPr id="131" name="Google Shape;131;p5"/>
          <p:cNvSpPr/>
          <p:nvPr/>
        </p:nvSpPr>
        <p:spPr>
          <a:xfrm>
            <a:off x="6134338" y="5085636"/>
            <a:ext cx="3698200" cy="592455"/>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Conectividad:</a:t>
            </a:r>
            <a:r>
              <a:rPr b="0" i="0" lang="en-US" sz="1450" u="none" cap="none" strike="noStrike">
                <a:solidFill>
                  <a:srgbClr val="272525"/>
                </a:solidFill>
                <a:latin typeface="Inter"/>
                <a:ea typeface="Inter"/>
                <a:cs typeface="Inter"/>
                <a:sym typeface="Inter"/>
              </a:rPr>
              <a:t> Acceso a internet estable.</a:t>
            </a:r>
            <a:endParaRPr b="0" i="0" sz="1450" u="none" cap="none" strike="noStrike"/>
          </a:p>
        </p:txBody>
      </p:sp>
      <p:sp>
        <p:nvSpPr>
          <p:cNvPr id="132" name="Google Shape;132;p5"/>
          <p:cNvSpPr/>
          <p:nvPr/>
        </p:nvSpPr>
        <p:spPr>
          <a:xfrm>
            <a:off x="6134338" y="5436349"/>
            <a:ext cx="3698100" cy="11850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Herramientas:</a:t>
            </a:r>
            <a:r>
              <a:rPr b="0" i="0" lang="en-US" sz="1450" u="none" cap="none" strike="noStrike">
                <a:solidFill>
                  <a:srgbClr val="272525"/>
                </a:solidFill>
                <a:latin typeface="Inter"/>
                <a:ea typeface="Inter"/>
                <a:cs typeface="Inter"/>
                <a:sym typeface="Inter"/>
              </a:rPr>
              <a:t> GitHub para control de versiones, Django para backend, Bootstrap para frontend, MySQL para base de datos.</a:t>
            </a:r>
            <a:endParaRPr b="0" i="0" sz="1450" u="none" cap="none" strike="noStrike"/>
          </a:p>
        </p:txBody>
      </p:sp>
      <p:sp>
        <p:nvSpPr>
          <p:cNvPr id="133" name="Google Shape;133;p5"/>
          <p:cNvSpPr/>
          <p:nvPr/>
        </p:nvSpPr>
        <p:spPr>
          <a:xfrm>
            <a:off x="6134338" y="6826391"/>
            <a:ext cx="3698100" cy="5925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Despliegue:</a:t>
            </a:r>
            <a:r>
              <a:rPr b="0" i="0" lang="en-US" sz="1450" u="none" cap="none" strike="noStrike">
                <a:solidFill>
                  <a:srgbClr val="272525"/>
                </a:solidFill>
                <a:latin typeface="Inter"/>
                <a:ea typeface="Inter"/>
                <a:cs typeface="Inter"/>
                <a:sym typeface="Inter"/>
              </a:rPr>
              <a:t> VPS económico para la puesta en producción.</a:t>
            </a:r>
            <a:endParaRPr b="0" i="0" sz="1450" u="none" cap="none" strike="noStrike"/>
          </a:p>
        </p:txBody>
      </p:sp>
      <p:sp>
        <p:nvSpPr>
          <p:cNvPr id="134" name="Google Shape;134;p5"/>
          <p:cNvSpPr/>
          <p:nvPr/>
        </p:nvSpPr>
        <p:spPr>
          <a:xfrm>
            <a:off x="10291882" y="3296722"/>
            <a:ext cx="2368987" cy="28932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800"/>
              <a:buFont typeface="Inter"/>
              <a:buNone/>
            </a:pPr>
            <a:r>
              <a:rPr b="1" i="0" lang="en-US" sz="1800" u="none" cap="none" strike="noStrike">
                <a:solidFill>
                  <a:srgbClr val="000000"/>
                </a:solidFill>
                <a:latin typeface="Inter"/>
                <a:ea typeface="Inter"/>
                <a:cs typeface="Inter"/>
                <a:sym typeface="Inter"/>
              </a:rPr>
              <a:t>Desafíos Potenciales</a:t>
            </a:r>
            <a:endParaRPr b="0" i="0" sz="1800" u="none" cap="none" strike="noStrike"/>
          </a:p>
        </p:txBody>
      </p:sp>
      <p:sp>
        <p:nvSpPr>
          <p:cNvPr id="135" name="Google Shape;135;p5"/>
          <p:cNvSpPr/>
          <p:nvPr/>
        </p:nvSpPr>
        <p:spPr>
          <a:xfrm>
            <a:off x="10291882" y="3771186"/>
            <a:ext cx="3698200" cy="888682"/>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Integración de Pasarela de Pago:</a:t>
            </a:r>
            <a:r>
              <a:rPr b="0" i="0" lang="en-US" sz="1450" u="none" cap="none" strike="noStrike">
                <a:solidFill>
                  <a:srgbClr val="272525"/>
                </a:solidFill>
                <a:latin typeface="Inter"/>
                <a:ea typeface="Inter"/>
                <a:cs typeface="Inter"/>
                <a:sym typeface="Inter"/>
              </a:rPr>
              <a:t> Implementación de un sistema de pago seguro y funcional.</a:t>
            </a:r>
            <a:endParaRPr b="0" i="0" sz="1450" u="none" cap="none" strike="noStrike"/>
          </a:p>
        </p:txBody>
      </p:sp>
      <p:sp>
        <p:nvSpPr>
          <p:cNvPr id="136" name="Google Shape;136;p5"/>
          <p:cNvSpPr/>
          <p:nvPr/>
        </p:nvSpPr>
        <p:spPr>
          <a:xfrm>
            <a:off x="10291932" y="5020863"/>
            <a:ext cx="3698100" cy="8886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272525"/>
              </a:buClr>
              <a:buSzPts val="1450"/>
              <a:buFont typeface="Inter"/>
              <a:buNone/>
            </a:pPr>
            <a:r>
              <a:rPr b="1" i="0" lang="en-US" sz="1450" u="none" cap="none" strike="noStrike">
                <a:solidFill>
                  <a:srgbClr val="272525"/>
                </a:solidFill>
                <a:latin typeface="Inter"/>
                <a:ea typeface="Inter"/>
                <a:cs typeface="Inter"/>
                <a:sym typeface="Inter"/>
              </a:rPr>
              <a:t>Configuración de Servidor VPS:</a:t>
            </a:r>
            <a:r>
              <a:rPr b="0" i="0" lang="en-US" sz="1450" u="none" cap="none" strike="noStrike">
                <a:solidFill>
                  <a:srgbClr val="272525"/>
                </a:solidFill>
                <a:latin typeface="Inter"/>
                <a:ea typeface="Inter"/>
                <a:cs typeface="Inter"/>
                <a:sym typeface="Inter"/>
              </a:rPr>
              <a:t> Optimización y seguridad del entorno de despliegue.</a:t>
            </a:r>
            <a:endParaRPr b="0" i="0" sz="1450" u="none" cap="none" strike="noStrike"/>
          </a:p>
        </p:txBody>
      </p:sp>
      <p:sp>
        <p:nvSpPr>
          <p:cNvPr id="137" name="Google Shape;137;p5"/>
          <p:cNvSpPr/>
          <p:nvPr/>
        </p:nvSpPr>
        <p:spPr>
          <a:xfrm>
            <a:off x="5643525" y="7809200"/>
            <a:ext cx="8888400" cy="47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p:nvPr/>
        </p:nvSpPr>
        <p:spPr>
          <a:xfrm>
            <a:off x="576143" y="711518"/>
            <a:ext cx="7247334" cy="514469"/>
          </a:xfrm>
          <a:prstGeom prst="rect">
            <a:avLst/>
          </a:prstGeom>
          <a:noFill/>
          <a:ln>
            <a:noFill/>
          </a:ln>
        </p:spPr>
        <p:txBody>
          <a:bodyPr anchorCtr="0" anchor="t" bIns="0" lIns="0" spcFirstLastPara="1" rIns="0" wrap="square" tIns="0">
            <a:noAutofit/>
          </a:bodyPr>
          <a:lstStyle/>
          <a:p>
            <a:pPr indent="0" lvl="0" marL="0" marR="0" rtl="0" algn="l">
              <a:lnSpc>
                <a:spcPct val="126562"/>
              </a:lnSpc>
              <a:spcBef>
                <a:spcPts val="0"/>
              </a:spcBef>
              <a:spcAft>
                <a:spcPts val="0"/>
              </a:spcAft>
              <a:buClr>
                <a:srgbClr val="000000"/>
              </a:buClr>
              <a:buSzPts val="3200"/>
              <a:buFont typeface="Inter"/>
              <a:buNone/>
            </a:pPr>
            <a:r>
              <a:rPr b="1" i="0" lang="en-US" sz="3200" u="none" cap="none" strike="noStrike">
                <a:solidFill>
                  <a:srgbClr val="000000"/>
                </a:solidFill>
                <a:latin typeface="Inter"/>
                <a:ea typeface="Inter"/>
                <a:cs typeface="Inter"/>
                <a:sym typeface="Inter"/>
              </a:rPr>
              <a:t>Objetivos del Proyecto CaninosLook</a:t>
            </a:r>
            <a:endParaRPr b="0" i="0" sz="3200" u="none" cap="none" strike="noStrike"/>
          </a:p>
        </p:txBody>
      </p:sp>
      <p:sp>
        <p:nvSpPr>
          <p:cNvPr id="144" name="Google Shape;144;p6"/>
          <p:cNvSpPr/>
          <p:nvPr/>
        </p:nvSpPr>
        <p:spPr>
          <a:xfrm>
            <a:off x="576143" y="1555194"/>
            <a:ext cx="13478113" cy="263366"/>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Nuestros objetivos definen el alcance y las funcionalidades esenciales de CaninosLook, garantizando una solución completa y robusta para la peluquería canina.</a:t>
            </a:r>
            <a:endParaRPr b="0" i="0" sz="1250" u="none" cap="none" strike="noStrike"/>
          </a:p>
        </p:txBody>
      </p:sp>
      <p:sp>
        <p:nvSpPr>
          <p:cNvPr id="145" name="Google Shape;145;p6"/>
          <p:cNvSpPr/>
          <p:nvPr/>
        </p:nvSpPr>
        <p:spPr>
          <a:xfrm>
            <a:off x="576143" y="2250638"/>
            <a:ext cx="4382929"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576143" y="2227778"/>
            <a:ext cx="4382929"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2520672" y="2003703"/>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2668786" y="2127171"/>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1</a:t>
            </a:r>
            <a:endParaRPr b="0" i="0" sz="1550" u="none" cap="none" strike="noStrike"/>
          </a:p>
        </p:txBody>
      </p:sp>
      <p:sp>
        <p:nvSpPr>
          <p:cNvPr id="149" name="Google Shape;149;p6"/>
          <p:cNvSpPr/>
          <p:nvPr/>
        </p:nvSpPr>
        <p:spPr>
          <a:xfrm>
            <a:off x="763548" y="2662118"/>
            <a:ext cx="2057876"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Optimizar la Gestión</a:t>
            </a:r>
            <a:endParaRPr b="0" i="0" sz="1600" u="none" cap="none" strike="noStrike"/>
          </a:p>
        </p:txBody>
      </p:sp>
      <p:sp>
        <p:nvSpPr>
          <p:cNvPr id="150" name="Google Shape;150;p6"/>
          <p:cNvSpPr/>
          <p:nvPr/>
        </p:nvSpPr>
        <p:spPr>
          <a:xfrm>
            <a:off x="763548" y="3017996"/>
            <a:ext cx="4008120"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Automatizar reservas, notificaciones y pagos para una operación más eficiente.</a:t>
            </a:r>
            <a:endParaRPr b="0" i="0" sz="1250" u="none" cap="none" strike="noStrike"/>
          </a:p>
        </p:txBody>
      </p:sp>
      <p:sp>
        <p:nvSpPr>
          <p:cNvPr id="151" name="Google Shape;151;p6"/>
          <p:cNvSpPr/>
          <p:nvPr/>
        </p:nvSpPr>
        <p:spPr>
          <a:xfrm>
            <a:off x="5123617" y="2250638"/>
            <a:ext cx="4383048"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5123617" y="2227778"/>
            <a:ext cx="4383048"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7068145" y="2003703"/>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7216259" y="2127171"/>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2</a:t>
            </a:r>
            <a:endParaRPr b="0" i="0" sz="1550" u="none" cap="none" strike="noStrike"/>
          </a:p>
        </p:txBody>
      </p:sp>
      <p:sp>
        <p:nvSpPr>
          <p:cNvPr id="155" name="Google Shape;155;p6"/>
          <p:cNvSpPr/>
          <p:nvPr/>
        </p:nvSpPr>
        <p:spPr>
          <a:xfrm>
            <a:off x="5311021" y="2662118"/>
            <a:ext cx="2341840"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Agenda Online Intuitiva</a:t>
            </a:r>
            <a:endParaRPr b="0" i="0" sz="1600" u="none" cap="none" strike="noStrike"/>
          </a:p>
        </p:txBody>
      </p:sp>
      <p:sp>
        <p:nvSpPr>
          <p:cNvPr id="156" name="Google Shape;156;p6"/>
          <p:cNvSpPr/>
          <p:nvPr/>
        </p:nvSpPr>
        <p:spPr>
          <a:xfrm>
            <a:off x="5311021" y="3017996"/>
            <a:ext cx="4008239"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Permitir a los clientes reservar y gestionar citas fácilmente 24/7.</a:t>
            </a:r>
            <a:endParaRPr b="0" i="0" sz="1250" u="none" cap="none" strike="noStrike"/>
          </a:p>
        </p:txBody>
      </p:sp>
      <p:sp>
        <p:nvSpPr>
          <p:cNvPr id="157" name="Google Shape;157;p6"/>
          <p:cNvSpPr/>
          <p:nvPr/>
        </p:nvSpPr>
        <p:spPr>
          <a:xfrm>
            <a:off x="9671209" y="2250638"/>
            <a:ext cx="4383048"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9671209" y="2227778"/>
            <a:ext cx="4383048"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11615738" y="2003703"/>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1763851" y="2127171"/>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3</a:t>
            </a:r>
            <a:endParaRPr b="0" i="0" sz="1550" u="none" cap="none" strike="noStrike"/>
          </a:p>
        </p:txBody>
      </p:sp>
      <p:sp>
        <p:nvSpPr>
          <p:cNvPr id="161" name="Google Shape;161;p6"/>
          <p:cNvSpPr/>
          <p:nvPr/>
        </p:nvSpPr>
        <p:spPr>
          <a:xfrm>
            <a:off x="9858613" y="2662118"/>
            <a:ext cx="2581394"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Notificaciones Proactivas</a:t>
            </a:r>
            <a:endParaRPr b="0" i="0" sz="1600" u="none" cap="none" strike="noStrike"/>
          </a:p>
        </p:txBody>
      </p:sp>
      <p:sp>
        <p:nvSpPr>
          <p:cNvPr id="162" name="Google Shape;162;p6"/>
          <p:cNvSpPr/>
          <p:nvPr/>
        </p:nvSpPr>
        <p:spPr>
          <a:xfrm>
            <a:off x="9858613" y="3017996"/>
            <a:ext cx="4008239"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Enviar recordatorios de citas y confirmaciones vía correo electrónico o </a:t>
            </a:r>
            <a:r>
              <a:rPr lang="en-US" sz="1250">
                <a:solidFill>
                  <a:srgbClr val="272525"/>
                </a:solidFill>
                <a:latin typeface="Inter"/>
                <a:ea typeface="Inter"/>
                <a:cs typeface="Inter"/>
                <a:sym typeface="Inter"/>
              </a:rPr>
              <a:t>whatsapp</a:t>
            </a:r>
            <a:r>
              <a:rPr b="0" i="0" lang="en-US" sz="1250" u="none" cap="none" strike="noStrike">
                <a:solidFill>
                  <a:srgbClr val="272525"/>
                </a:solidFill>
                <a:latin typeface="Inter"/>
                <a:ea typeface="Inter"/>
                <a:cs typeface="Inter"/>
                <a:sym typeface="Inter"/>
              </a:rPr>
              <a:t>.</a:t>
            </a:r>
            <a:endParaRPr b="0" i="0" sz="1250" u="none" cap="none" strike="noStrike"/>
          </a:p>
        </p:txBody>
      </p:sp>
      <p:sp>
        <p:nvSpPr>
          <p:cNvPr id="163" name="Google Shape;163;p6"/>
          <p:cNvSpPr/>
          <p:nvPr/>
        </p:nvSpPr>
        <p:spPr>
          <a:xfrm>
            <a:off x="576143" y="4143613"/>
            <a:ext cx="4382929"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576143" y="4120753"/>
            <a:ext cx="4382929"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2520672" y="3896678"/>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2668786" y="4020145"/>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4</a:t>
            </a:r>
            <a:endParaRPr b="0" i="0" sz="1550" u="none" cap="none" strike="noStrike"/>
          </a:p>
        </p:txBody>
      </p:sp>
      <p:sp>
        <p:nvSpPr>
          <p:cNvPr id="167" name="Google Shape;167;p6"/>
          <p:cNvSpPr/>
          <p:nvPr/>
        </p:nvSpPr>
        <p:spPr>
          <a:xfrm>
            <a:off x="763548" y="4555093"/>
            <a:ext cx="2102882"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Gestión Centralizada</a:t>
            </a:r>
            <a:endParaRPr b="0" i="0" sz="1600" u="none" cap="none" strike="noStrike"/>
          </a:p>
        </p:txBody>
      </p:sp>
      <p:sp>
        <p:nvSpPr>
          <p:cNvPr id="168" name="Google Shape;168;p6"/>
          <p:cNvSpPr/>
          <p:nvPr/>
        </p:nvSpPr>
        <p:spPr>
          <a:xfrm>
            <a:off x="763548" y="4910971"/>
            <a:ext cx="4008120"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Mantener un registro completo de clientes, mascotas y servicios realizados.</a:t>
            </a:r>
            <a:endParaRPr b="0" i="0" sz="1250" u="none" cap="none" strike="noStrike"/>
          </a:p>
        </p:txBody>
      </p:sp>
      <p:sp>
        <p:nvSpPr>
          <p:cNvPr id="169" name="Google Shape;169;p6"/>
          <p:cNvSpPr/>
          <p:nvPr/>
        </p:nvSpPr>
        <p:spPr>
          <a:xfrm>
            <a:off x="5123617" y="4143613"/>
            <a:ext cx="4383048"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5123617" y="4120753"/>
            <a:ext cx="4383048"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7068145" y="3896678"/>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7216259" y="4020145"/>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5</a:t>
            </a:r>
            <a:endParaRPr b="0" i="0" sz="1550" u="none" cap="none" strike="noStrike"/>
          </a:p>
        </p:txBody>
      </p:sp>
      <p:sp>
        <p:nvSpPr>
          <p:cNvPr id="173" name="Google Shape;173;p6"/>
          <p:cNvSpPr/>
          <p:nvPr/>
        </p:nvSpPr>
        <p:spPr>
          <a:xfrm>
            <a:off x="5311021" y="4555093"/>
            <a:ext cx="2057876"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Pagos Integrados</a:t>
            </a:r>
            <a:endParaRPr b="0" i="0" sz="1600" u="none" cap="none" strike="noStrike"/>
          </a:p>
        </p:txBody>
      </p:sp>
      <p:sp>
        <p:nvSpPr>
          <p:cNvPr id="174" name="Google Shape;174;p6"/>
          <p:cNvSpPr/>
          <p:nvPr/>
        </p:nvSpPr>
        <p:spPr>
          <a:xfrm>
            <a:off x="5311021" y="4910971"/>
            <a:ext cx="4008239"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Facilitar transacciones seguras en línea, con soporte para diferentes métodos.</a:t>
            </a:r>
            <a:endParaRPr b="0" i="0" sz="1250" u="none" cap="none" strike="noStrike"/>
          </a:p>
        </p:txBody>
      </p:sp>
      <p:sp>
        <p:nvSpPr>
          <p:cNvPr id="175" name="Google Shape;175;p6"/>
          <p:cNvSpPr/>
          <p:nvPr/>
        </p:nvSpPr>
        <p:spPr>
          <a:xfrm>
            <a:off x="9671209" y="4143613"/>
            <a:ext cx="4383048"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9671209" y="4120753"/>
            <a:ext cx="4383048"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11615738" y="3896678"/>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11763851" y="4020145"/>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6</a:t>
            </a:r>
            <a:endParaRPr b="0" i="0" sz="1550" u="none" cap="none" strike="noStrike"/>
          </a:p>
        </p:txBody>
      </p:sp>
      <p:sp>
        <p:nvSpPr>
          <p:cNvPr id="179" name="Google Shape;179;p6"/>
          <p:cNvSpPr/>
          <p:nvPr/>
        </p:nvSpPr>
        <p:spPr>
          <a:xfrm>
            <a:off x="9858613" y="4555093"/>
            <a:ext cx="2079188"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Panel Administrativo</a:t>
            </a:r>
            <a:endParaRPr b="0" i="0" sz="1600" u="none" cap="none" strike="noStrike"/>
          </a:p>
        </p:txBody>
      </p:sp>
      <p:sp>
        <p:nvSpPr>
          <p:cNvPr id="180" name="Google Shape;180;p6"/>
          <p:cNvSpPr/>
          <p:nvPr/>
        </p:nvSpPr>
        <p:spPr>
          <a:xfrm>
            <a:off x="9858613" y="4910971"/>
            <a:ext cx="4008239"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Proveer herramientas robustas para la administración del negocio por parte del personal.</a:t>
            </a:r>
            <a:endParaRPr b="0" i="0" sz="1250" u="none" cap="none" strike="noStrike"/>
          </a:p>
        </p:txBody>
      </p:sp>
      <p:sp>
        <p:nvSpPr>
          <p:cNvPr id="181" name="Google Shape;181;p6"/>
          <p:cNvSpPr/>
          <p:nvPr/>
        </p:nvSpPr>
        <p:spPr>
          <a:xfrm>
            <a:off x="576143" y="6036588"/>
            <a:ext cx="4382929"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576143" y="6013728"/>
            <a:ext cx="4382929"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520672" y="5789652"/>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2668786" y="5913120"/>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7</a:t>
            </a:r>
            <a:endParaRPr b="0" i="0" sz="1550" u="none" cap="none" strike="noStrike"/>
          </a:p>
        </p:txBody>
      </p:sp>
      <p:sp>
        <p:nvSpPr>
          <p:cNvPr id="185" name="Google Shape;185;p6"/>
          <p:cNvSpPr/>
          <p:nvPr/>
        </p:nvSpPr>
        <p:spPr>
          <a:xfrm>
            <a:off x="763548" y="6448068"/>
            <a:ext cx="2057876"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Seguridad de Datos</a:t>
            </a:r>
            <a:endParaRPr b="0" i="0" sz="1600" u="none" cap="none" strike="noStrike"/>
          </a:p>
        </p:txBody>
      </p:sp>
      <p:sp>
        <p:nvSpPr>
          <p:cNvPr id="186" name="Google Shape;186;p6"/>
          <p:cNvSpPr/>
          <p:nvPr/>
        </p:nvSpPr>
        <p:spPr>
          <a:xfrm>
            <a:off x="763548" y="6803946"/>
            <a:ext cx="4008120"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Asegurar la protección de la información sensible de usuarios.</a:t>
            </a:r>
            <a:endParaRPr b="0" i="0" sz="1250" u="none" cap="none" strike="noStrike"/>
          </a:p>
        </p:txBody>
      </p:sp>
      <p:sp>
        <p:nvSpPr>
          <p:cNvPr id="187" name="Google Shape;187;p6"/>
          <p:cNvSpPr/>
          <p:nvPr/>
        </p:nvSpPr>
        <p:spPr>
          <a:xfrm>
            <a:off x="5123617" y="6036588"/>
            <a:ext cx="4383048"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5123617" y="6013728"/>
            <a:ext cx="4383048"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7068145" y="5789652"/>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7216259" y="5913120"/>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8</a:t>
            </a:r>
            <a:endParaRPr b="0" i="0" sz="1550" u="none" cap="none" strike="noStrike"/>
          </a:p>
        </p:txBody>
      </p:sp>
      <p:sp>
        <p:nvSpPr>
          <p:cNvPr id="191" name="Google Shape;191;p6"/>
          <p:cNvSpPr/>
          <p:nvPr/>
        </p:nvSpPr>
        <p:spPr>
          <a:xfrm>
            <a:off x="5311021" y="6448068"/>
            <a:ext cx="2607826"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Documentación Completa</a:t>
            </a:r>
            <a:endParaRPr b="0" i="0" sz="1600" u="none" cap="none" strike="noStrike"/>
          </a:p>
        </p:txBody>
      </p:sp>
      <p:sp>
        <p:nvSpPr>
          <p:cNvPr id="192" name="Google Shape;192;p6"/>
          <p:cNvSpPr/>
          <p:nvPr/>
        </p:nvSpPr>
        <p:spPr>
          <a:xfrm>
            <a:off x="5311021" y="6803946"/>
            <a:ext cx="4008239"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Elaborar manuales y guías para el uso y mantenimiento del sistema.</a:t>
            </a:r>
            <a:endParaRPr b="0" i="0" sz="1250" u="none" cap="none" strike="noStrike"/>
          </a:p>
        </p:txBody>
      </p:sp>
      <p:sp>
        <p:nvSpPr>
          <p:cNvPr id="193" name="Google Shape;193;p6"/>
          <p:cNvSpPr/>
          <p:nvPr/>
        </p:nvSpPr>
        <p:spPr>
          <a:xfrm>
            <a:off x="9671209" y="6036588"/>
            <a:ext cx="4383048" cy="1481495"/>
          </a:xfrm>
          <a:prstGeom prst="roundRect">
            <a:avLst>
              <a:gd fmla="val 740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9671209" y="6013728"/>
            <a:ext cx="4383048" cy="91440"/>
          </a:xfrm>
          <a:prstGeom prst="roundRect">
            <a:avLst>
              <a:gd fmla="val 75622"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11615738" y="5789652"/>
            <a:ext cx="493871" cy="493871"/>
          </a:xfrm>
          <a:prstGeom prst="roundRect">
            <a:avLst>
              <a:gd fmla="val 185150" name="adj"/>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11763851" y="5913120"/>
            <a:ext cx="197525" cy="24693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FFFFFF"/>
              </a:buClr>
              <a:buSzPts val="1550"/>
              <a:buFont typeface="Inter"/>
              <a:buNone/>
            </a:pPr>
            <a:r>
              <a:rPr b="1" i="0" lang="en-US" sz="1550" u="none" cap="none" strike="noStrike">
                <a:solidFill>
                  <a:srgbClr val="FFFFFF"/>
                </a:solidFill>
                <a:latin typeface="Inter"/>
                <a:ea typeface="Inter"/>
                <a:cs typeface="Inter"/>
                <a:sym typeface="Inter"/>
              </a:rPr>
              <a:t>9</a:t>
            </a:r>
            <a:endParaRPr b="0" i="0" sz="1550" u="none" cap="none" strike="noStrike"/>
          </a:p>
        </p:txBody>
      </p:sp>
      <p:sp>
        <p:nvSpPr>
          <p:cNvPr id="197" name="Google Shape;197;p6"/>
          <p:cNvSpPr/>
          <p:nvPr/>
        </p:nvSpPr>
        <p:spPr>
          <a:xfrm>
            <a:off x="9858613" y="6448068"/>
            <a:ext cx="2057876" cy="2571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525"/>
              </a:buClr>
              <a:buSzPts val="1600"/>
              <a:buFont typeface="Inter"/>
              <a:buNone/>
            </a:pPr>
            <a:r>
              <a:rPr b="1" i="0" lang="en-US" sz="1600" u="none" cap="none" strike="noStrike">
                <a:solidFill>
                  <a:srgbClr val="272525"/>
                </a:solidFill>
                <a:latin typeface="Inter"/>
                <a:ea typeface="Inter"/>
                <a:cs typeface="Inter"/>
                <a:sym typeface="Inter"/>
              </a:rPr>
              <a:t>MVP Desplegable</a:t>
            </a:r>
            <a:endParaRPr b="0" i="0" sz="1600" u="none" cap="none" strike="noStrike"/>
          </a:p>
        </p:txBody>
      </p:sp>
      <p:sp>
        <p:nvSpPr>
          <p:cNvPr id="198" name="Google Shape;198;p6"/>
          <p:cNvSpPr/>
          <p:nvPr/>
        </p:nvSpPr>
        <p:spPr>
          <a:xfrm>
            <a:off x="9858613" y="6803946"/>
            <a:ext cx="4008239" cy="526733"/>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72525"/>
              </a:buClr>
              <a:buSzPts val="1250"/>
              <a:buFont typeface="Inter"/>
              <a:buNone/>
            </a:pPr>
            <a:r>
              <a:rPr b="0" i="0" lang="en-US" sz="1250" u="none" cap="none" strike="noStrike">
                <a:solidFill>
                  <a:srgbClr val="272525"/>
                </a:solidFill>
                <a:latin typeface="Inter"/>
                <a:ea typeface="Inter"/>
                <a:cs typeface="Inter"/>
                <a:sym typeface="Inter"/>
              </a:rPr>
              <a:t>Entregar un Producto Mínimo Viable funcional y listo para usar.</a:t>
            </a:r>
            <a:endParaRPr b="0" i="0" sz="1250" u="none" cap="none" strike="noStrike"/>
          </a:p>
        </p:txBody>
      </p:sp>
      <p:sp>
        <p:nvSpPr>
          <p:cNvPr id="199" name="Google Shape;199;p6"/>
          <p:cNvSpPr/>
          <p:nvPr/>
        </p:nvSpPr>
        <p:spPr>
          <a:xfrm>
            <a:off x="0" y="7791125"/>
            <a:ext cx="14532000" cy="493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7"/>
          <p:cNvSpPr/>
          <p:nvPr/>
        </p:nvSpPr>
        <p:spPr>
          <a:xfrm>
            <a:off x="702231" y="-11"/>
            <a:ext cx="8722500" cy="6270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000000"/>
              </a:buClr>
              <a:buSzPts val="3900"/>
              <a:buFont typeface="Inter"/>
              <a:buNone/>
            </a:pPr>
            <a:r>
              <a:rPr b="1" i="0" lang="en-US" sz="3900" u="none" cap="none" strike="noStrike">
                <a:solidFill>
                  <a:srgbClr val="000000"/>
                </a:solidFill>
                <a:latin typeface="Inter"/>
                <a:ea typeface="Inter"/>
                <a:cs typeface="Inter"/>
                <a:sym typeface="Inter"/>
              </a:rPr>
              <a:t>Metodología de Trabajo: Scrum Ágil</a:t>
            </a:r>
            <a:endParaRPr b="0" i="0" sz="3900" u="none" cap="none" strike="noStrike"/>
          </a:p>
        </p:txBody>
      </p:sp>
      <p:sp>
        <p:nvSpPr>
          <p:cNvPr id="206" name="Google Shape;206;p7"/>
          <p:cNvSpPr/>
          <p:nvPr/>
        </p:nvSpPr>
        <p:spPr>
          <a:xfrm>
            <a:off x="702231" y="626988"/>
            <a:ext cx="132258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Para garantizar una entrega iterativa y de valor continuo, adoptamos la metodología Scrum, estructurando el proyecto en sprints quincenales que nos permiten adaptarnos y responder rápidamente a los cambios.</a:t>
            </a:r>
            <a:endParaRPr b="0" i="0" sz="1550" u="none" cap="none" strike="noStrike"/>
          </a:p>
        </p:txBody>
      </p:sp>
      <p:sp>
        <p:nvSpPr>
          <p:cNvPr id="207" name="Google Shape;207;p7"/>
          <p:cNvSpPr/>
          <p:nvPr/>
        </p:nvSpPr>
        <p:spPr>
          <a:xfrm>
            <a:off x="702231" y="1569322"/>
            <a:ext cx="2007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01</a:t>
            </a:r>
            <a:endParaRPr b="0" i="0" sz="1550" u="none" cap="none" strike="noStrike"/>
          </a:p>
        </p:txBody>
      </p:sp>
      <p:sp>
        <p:nvSpPr>
          <p:cNvPr id="208" name="Google Shape;208;p7"/>
          <p:cNvSpPr/>
          <p:nvPr/>
        </p:nvSpPr>
        <p:spPr>
          <a:xfrm>
            <a:off x="702231" y="1887457"/>
            <a:ext cx="42747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702231" y="2033427"/>
            <a:ext cx="26535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Sprints de 2 Semanas</a:t>
            </a:r>
            <a:endParaRPr b="0" i="0" sz="1950" u="none" cap="none" strike="noStrike"/>
          </a:p>
        </p:txBody>
      </p:sp>
      <p:sp>
        <p:nvSpPr>
          <p:cNvPr id="210" name="Google Shape;210;p7"/>
          <p:cNvSpPr/>
          <p:nvPr/>
        </p:nvSpPr>
        <p:spPr>
          <a:xfrm>
            <a:off x="702231" y="2467291"/>
            <a:ext cx="42747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Un total de 9 sprints para el ciclo completo del proyecto.</a:t>
            </a:r>
            <a:endParaRPr b="0" i="0" sz="1550" u="none" cap="none" strike="noStrike"/>
          </a:p>
        </p:txBody>
      </p:sp>
      <p:sp>
        <p:nvSpPr>
          <p:cNvPr id="211" name="Google Shape;211;p7"/>
          <p:cNvSpPr/>
          <p:nvPr/>
        </p:nvSpPr>
        <p:spPr>
          <a:xfrm>
            <a:off x="5177681" y="1569325"/>
            <a:ext cx="4824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02</a:t>
            </a:r>
            <a:endParaRPr b="0" i="0" sz="1550" u="none" cap="none" strike="noStrike"/>
          </a:p>
        </p:txBody>
      </p:sp>
      <p:sp>
        <p:nvSpPr>
          <p:cNvPr id="212" name="Google Shape;212;p7"/>
          <p:cNvSpPr/>
          <p:nvPr/>
        </p:nvSpPr>
        <p:spPr>
          <a:xfrm>
            <a:off x="5177671" y="1887457"/>
            <a:ext cx="42750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5177671" y="2033427"/>
            <a:ext cx="29538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Fase de Descubrimiento</a:t>
            </a:r>
            <a:endParaRPr b="0" i="0" sz="1950" u="none" cap="none" strike="noStrike"/>
          </a:p>
        </p:txBody>
      </p:sp>
      <p:sp>
        <p:nvSpPr>
          <p:cNvPr id="214" name="Google Shape;214;p7"/>
          <p:cNvSpPr/>
          <p:nvPr/>
        </p:nvSpPr>
        <p:spPr>
          <a:xfrm>
            <a:off x="5177671" y="2467291"/>
            <a:ext cx="42750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Entender a fondo las necesidades del cliente y el flujo de trabajo actual.</a:t>
            </a:r>
            <a:endParaRPr b="0" i="0" sz="1550" u="none" cap="none" strike="noStrike"/>
          </a:p>
        </p:txBody>
      </p:sp>
      <p:sp>
        <p:nvSpPr>
          <p:cNvPr id="215" name="Google Shape;215;p7"/>
          <p:cNvSpPr/>
          <p:nvPr/>
        </p:nvSpPr>
        <p:spPr>
          <a:xfrm>
            <a:off x="9653219" y="1569325"/>
            <a:ext cx="4260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03</a:t>
            </a:r>
            <a:endParaRPr b="0" i="0" sz="1550" u="none" cap="none" strike="noStrike"/>
          </a:p>
        </p:txBody>
      </p:sp>
      <p:sp>
        <p:nvSpPr>
          <p:cNvPr id="216" name="Google Shape;216;p7"/>
          <p:cNvSpPr/>
          <p:nvPr/>
        </p:nvSpPr>
        <p:spPr>
          <a:xfrm>
            <a:off x="9653230" y="1887457"/>
            <a:ext cx="42747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9653230" y="2033427"/>
            <a:ext cx="25083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Diseño UX/UI</a:t>
            </a:r>
            <a:endParaRPr b="0" i="0" sz="1950" u="none" cap="none" strike="noStrike"/>
          </a:p>
        </p:txBody>
      </p:sp>
      <p:sp>
        <p:nvSpPr>
          <p:cNvPr id="218" name="Google Shape;218;p7"/>
          <p:cNvSpPr/>
          <p:nvPr/>
        </p:nvSpPr>
        <p:spPr>
          <a:xfrm>
            <a:off x="9653230" y="2467291"/>
            <a:ext cx="42747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lang="en-US" sz="1550">
                <a:solidFill>
                  <a:srgbClr val="272525"/>
                </a:solidFill>
                <a:latin typeface="Inter"/>
                <a:ea typeface="Inter"/>
                <a:cs typeface="Inter"/>
                <a:sym typeface="Inter"/>
              </a:rPr>
              <a:t>Creación de wireframes de baja fidelidad para definir la estructura y funcionalidades de la interfaz, facilitando un desarrollo ágil y ordenado.</a:t>
            </a:r>
            <a:endParaRPr b="0" i="0" sz="1550" u="none" cap="none" strike="noStrike"/>
          </a:p>
        </p:txBody>
      </p:sp>
      <p:sp>
        <p:nvSpPr>
          <p:cNvPr id="219" name="Google Shape;219;p7"/>
          <p:cNvSpPr/>
          <p:nvPr/>
        </p:nvSpPr>
        <p:spPr>
          <a:xfrm>
            <a:off x="702216" y="3925475"/>
            <a:ext cx="5376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04</a:t>
            </a:r>
            <a:endParaRPr b="0" i="0" sz="1550" u="none" cap="none" strike="noStrike"/>
          </a:p>
        </p:txBody>
      </p:sp>
      <p:sp>
        <p:nvSpPr>
          <p:cNvPr id="220" name="Google Shape;220;p7"/>
          <p:cNvSpPr/>
          <p:nvPr/>
        </p:nvSpPr>
        <p:spPr>
          <a:xfrm>
            <a:off x="702231" y="4243607"/>
            <a:ext cx="42747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702231" y="4389578"/>
            <a:ext cx="25083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Desarrollo Iterativo</a:t>
            </a:r>
            <a:endParaRPr b="0" i="0" sz="1950" u="none" cap="none" strike="noStrike"/>
          </a:p>
        </p:txBody>
      </p:sp>
      <p:sp>
        <p:nvSpPr>
          <p:cNvPr id="222" name="Google Shape;222;p7"/>
          <p:cNvSpPr/>
          <p:nvPr/>
        </p:nvSpPr>
        <p:spPr>
          <a:xfrm>
            <a:off x="702231" y="4823442"/>
            <a:ext cx="42747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Construcción incremental de funcionalidades con revisiones constantes.</a:t>
            </a:r>
            <a:endParaRPr b="0" i="0" sz="1550" u="none" cap="none" strike="noStrike"/>
          </a:p>
        </p:txBody>
      </p:sp>
      <p:sp>
        <p:nvSpPr>
          <p:cNvPr id="223" name="Google Shape;223;p7"/>
          <p:cNvSpPr/>
          <p:nvPr/>
        </p:nvSpPr>
        <p:spPr>
          <a:xfrm>
            <a:off x="5177682" y="3925475"/>
            <a:ext cx="5376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05</a:t>
            </a:r>
            <a:endParaRPr b="0" i="0" sz="1550" u="none" cap="none" strike="noStrike"/>
          </a:p>
        </p:txBody>
      </p:sp>
      <p:sp>
        <p:nvSpPr>
          <p:cNvPr id="224" name="Google Shape;224;p7"/>
          <p:cNvSpPr/>
          <p:nvPr/>
        </p:nvSpPr>
        <p:spPr>
          <a:xfrm>
            <a:off x="5177671" y="4243607"/>
            <a:ext cx="42750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5177671" y="4389578"/>
            <a:ext cx="28797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Control de Calidad (QA)</a:t>
            </a:r>
            <a:endParaRPr b="0" i="0" sz="1950" u="none" cap="none" strike="noStrike"/>
          </a:p>
        </p:txBody>
      </p:sp>
      <p:sp>
        <p:nvSpPr>
          <p:cNvPr id="226" name="Google Shape;226;p7"/>
          <p:cNvSpPr/>
          <p:nvPr/>
        </p:nvSpPr>
        <p:spPr>
          <a:xfrm>
            <a:off x="5177671" y="4823442"/>
            <a:ext cx="42750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lang="en-US" sz="1550">
                <a:solidFill>
                  <a:srgbClr val="272525"/>
                </a:solidFill>
                <a:latin typeface="Inter"/>
                <a:ea typeface="Inter"/>
                <a:cs typeface="Inter"/>
                <a:sym typeface="Inter"/>
              </a:rPr>
              <a:t>Check list OWASP Básico y revisión por pares.</a:t>
            </a:r>
            <a:endParaRPr b="0" i="0" sz="1550" u="none" cap="none" strike="noStrike"/>
          </a:p>
        </p:txBody>
      </p:sp>
      <p:sp>
        <p:nvSpPr>
          <p:cNvPr id="227" name="Google Shape;227;p7"/>
          <p:cNvSpPr/>
          <p:nvPr/>
        </p:nvSpPr>
        <p:spPr>
          <a:xfrm>
            <a:off x="9653219" y="3925475"/>
            <a:ext cx="4260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06</a:t>
            </a:r>
            <a:endParaRPr b="0" i="0" sz="1550" u="none" cap="none" strike="noStrike"/>
          </a:p>
        </p:txBody>
      </p:sp>
      <p:sp>
        <p:nvSpPr>
          <p:cNvPr id="228" name="Google Shape;228;p7"/>
          <p:cNvSpPr/>
          <p:nvPr/>
        </p:nvSpPr>
        <p:spPr>
          <a:xfrm>
            <a:off x="9653230" y="4243607"/>
            <a:ext cx="42747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9653230" y="4389578"/>
            <a:ext cx="25587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Despliegue Continuo</a:t>
            </a:r>
            <a:endParaRPr b="0" i="0" sz="1950" u="none" cap="none" strike="noStrike"/>
          </a:p>
        </p:txBody>
      </p:sp>
      <p:sp>
        <p:nvSpPr>
          <p:cNvPr id="230" name="Google Shape;230;p7"/>
          <p:cNvSpPr/>
          <p:nvPr/>
        </p:nvSpPr>
        <p:spPr>
          <a:xfrm>
            <a:off x="9653230" y="4823442"/>
            <a:ext cx="4274700" cy="64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Preparación y puesta en producción de las funcionalidades desarrolladas.</a:t>
            </a:r>
            <a:endParaRPr b="0" i="0" sz="1550" u="none" cap="none" strike="noStrike"/>
          </a:p>
        </p:txBody>
      </p:sp>
      <p:sp>
        <p:nvSpPr>
          <p:cNvPr id="231" name="Google Shape;231;p7"/>
          <p:cNvSpPr/>
          <p:nvPr/>
        </p:nvSpPr>
        <p:spPr>
          <a:xfrm>
            <a:off x="702217" y="5816425"/>
            <a:ext cx="482400" cy="2508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Light"/>
              <a:buNone/>
            </a:pPr>
            <a:r>
              <a:rPr b="0" i="0" lang="en-US" sz="1550" u="none" cap="none" strike="noStrike">
                <a:solidFill>
                  <a:srgbClr val="272525"/>
                </a:solidFill>
                <a:latin typeface="Inter Light"/>
                <a:ea typeface="Inter Light"/>
                <a:cs typeface="Inter Light"/>
                <a:sym typeface="Inter Light"/>
              </a:rPr>
              <a:t>07</a:t>
            </a:r>
            <a:endParaRPr b="0" i="0" sz="1550" u="none" cap="none" strike="noStrike"/>
          </a:p>
        </p:txBody>
      </p:sp>
      <p:sp>
        <p:nvSpPr>
          <p:cNvPr id="232" name="Google Shape;232;p7"/>
          <p:cNvSpPr/>
          <p:nvPr/>
        </p:nvSpPr>
        <p:spPr>
          <a:xfrm>
            <a:off x="702231" y="6134558"/>
            <a:ext cx="13225800" cy="22800"/>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702231" y="6280528"/>
            <a:ext cx="2508300" cy="3135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272525"/>
              </a:buClr>
              <a:buSzPts val="1950"/>
              <a:buFont typeface="Inter"/>
              <a:buNone/>
            </a:pPr>
            <a:r>
              <a:rPr b="1" i="0" lang="en-US" sz="1950" u="none" cap="none" strike="noStrike">
                <a:solidFill>
                  <a:srgbClr val="272525"/>
                </a:solidFill>
                <a:latin typeface="Inter"/>
                <a:ea typeface="Inter"/>
                <a:cs typeface="Inter"/>
                <a:sym typeface="Inter"/>
              </a:rPr>
              <a:t>Cierre del Proyecto</a:t>
            </a:r>
            <a:endParaRPr b="0" i="0" sz="1950" u="none" cap="none" strike="noStrike"/>
          </a:p>
        </p:txBody>
      </p:sp>
      <p:sp>
        <p:nvSpPr>
          <p:cNvPr id="234" name="Google Shape;234;p7"/>
          <p:cNvSpPr/>
          <p:nvPr/>
        </p:nvSpPr>
        <p:spPr>
          <a:xfrm>
            <a:off x="702231" y="6714392"/>
            <a:ext cx="13225800" cy="321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72525"/>
              </a:buClr>
              <a:buSzPts val="1550"/>
              <a:buFont typeface="Inter"/>
              <a:buNone/>
            </a:pPr>
            <a:r>
              <a:rPr b="0" i="0" lang="en-US" sz="1550" u="none" cap="none" strike="noStrike">
                <a:solidFill>
                  <a:srgbClr val="272525"/>
                </a:solidFill>
                <a:latin typeface="Inter"/>
                <a:ea typeface="Inter"/>
                <a:cs typeface="Inter"/>
                <a:sym typeface="Inter"/>
              </a:rPr>
              <a:t>Documentación final, capacitación y entrega del sistema completo.</a:t>
            </a:r>
            <a:endParaRPr b="0" i="0" sz="1550" u="none" cap="none" strike="noStrike"/>
          </a:p>
        </p:txBody>
      </p:sp>
      <p:sp>
        <p:nvSpPr>
          <p:cNvPr id="235" name="Google Shape;235;p7"/>
          <p:cNvSpPr/>
          <p:nvPr/>
        </p:nvSpPr>
        <p:spPr>
          <a:xfrm>
            <a:off x="9551100" y="7655096"/>
            <a:ext cx="5079300" cy="57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36" name="Google Shape;236;p7"/>
          <p:cNvSpPr txBox="1"/>
          <p:nvPr/>
        </p:nvSpPr>
        <p:spPr>
          <a:xfrm>
            <a:off x="343800" y="7390125"/>
            <a:ext cx="13942800" cy="4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50">
                <a:solidFill>
                  <a:srgbClr val="272525"/>
                </a:solidFill>
                <a:latin typeface="Inter"/>
                <a:ea typeface="Inter"/>
                <a:cs typeface="Inter"/>
                <a:sym typeface="Inter"/>
              </a:rPr>
              <a:t>SCRUM MASTER: Cristobal Barros.			PRODUCT OWNER: Diego Silva.			LÍDER TÉCNICO: Agustín Valenzuela.</a:t>
            </a:r>
            <a:endParaRPr sz="1850">
              <a:solidFill>
                <a:srgbClr val="272525"/>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8"/>
          <p:cNvSpPr/>
          <p:nvPr/>
        </p:nvSpPr>
        <p:spPr>
          <a:xfrm>
            <a:off x="486290" y="746111"/>
            <a:ext cx="70215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Plan de Trabajo</a:t>
            </a:r>
            <a:endParaRPr b="0" i="0" sz="4450" u="none" cap="none" strike="noStrike"/>
          </a:p>
        </p:txBody>
      </p:sp>
      <p:sp>
        <p:nvSpPr>
          <p:cNvPr id="243" name="Google Shape;243;p8"/>
          <p:cNvSpPr/>
          <p:nvPr/>
        </p:nvSpPr>
        <p:spPr>
          <a:xfrm>
            <a:off x="597050" y="2360550"/>
            <a:ext cx="4297500" cy="1698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Nuestro cronograma Gantt visualiza las actividades clav</a:t>
            </a:r>
            <a:r>
              <a:rPr lang="en-US" sz="1750">
                <a:solidFill>
                  <a:srgbClr val="272525"/>
                </a:solidFill>
                <a:latin typeface="Inter"/>
                <a:ea typeface="Inter"/>
                <a:cs typeface="Inter"/>
                <a:sym typeface="Inter"/>
              </a:rPr>
              <a:t>es</a:t>
            </a:r>
            <a:r>
              <a:rPr b="0" i="0" lang="en-US" sz="1750" u="none" cap="none" strike="noStrike">
                <a:solidFill>
                  <a:srgbClr val="272525"/>
                </a:solidFill>
                <a:latin typeface="Inter"/>
                <a:ea typeface="Inter"/>
                <a:cs typeface="Inter"/>
                <a:sym typeface="Inter"/>
              </a:rPr>
              <a:t>, asegurando una progresión lógica y eficiente a lo largo de las 18 semanas del proyecto.</a:t>
            </a:r>
            <a:endParaRPr b="0" i="0" sz="1750" u="none" cap="none" strike="noStrike"/>
          </a:p>
        </p:txBody>
      </p:sp>
      <p:sp>
        <p:nvSpPr>
          <p:cNvPr id="244" name="Google Shape;244;p8"/>
          <p:cNvSpPr/>
          <p:nvPr/>
        </p:nvSpPr>
        <p:spPr>
          <a:xfrm>
            <a:off x="5796400" y="7576100"/>
            <a:ext cx="8735700" cy="70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aphicFrame>
        <p:nvGraphicFramePr>
          <p:cNvPr id="245" name="Google Shape;245;p8"/>
          <p:cNvGraphicFramePr/>
          <p:nvPr/>
        </p:nvGraphicFramePr>
        <p:xfrm>
          <a:off x="8497125" y="897425"/>
          <a:ext cx="3000000" cy="3000000"/>
        </p:xfrm>
        <a:graphic>
          <a:graphicData uri="http://schemas.openxmlformats.org/drawingml/2006/table">
            <a:tbl>
              <a:tblPr bandRow="1">
                <a:noFill/>
                <a:tableStyleId>{9338B416-3BCA-4318-AEB7-2506FE7DCEEF}</a:tableStyleId>
              </a:tblPr>
              <a:tblGrid>
                <a:gridCol w="4924250"/>
              </a:tblGrid>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Levantamiento de requerimientos</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marR="0" rtl="0" algn="just">
                        <a:lnSpc>
                          <a:spcPct val="107916"/>
                        </a:lnSpc>
                        <a:spcBef>
                          <a:spcPts val="0"/>
                        </a:spcBef>
                        <a:spcAft>
                          <a:spcPts val="800"/>
                        </a:spcAft>
                        <a:buNone/>
                      </a:pPr>
                      <a:r>
                        <a:rPr lang="en-US" sz="1750">
                          <a:solidFill>
                            <a:schemeClr val="dk1"/>
                          </a:solidFill>
                          <a:latin typeface="Inter"/>
                          <a:ea typeface="Inter"/>
                          <a:cs typeface="Inter"/>
                          <a:sym typeface="Inter"/>
                        </a:rPr>
                        <a:t>Definición de alcance y backlog</a:t>
                      </a:r>
                      <a:r>
                        <a:rPr lang="en-US" sz="900">
                          <a:solidFill>
                            <a:srgbClr val="548DD4"/>
                          </a:solidFill>
                          <a:latin typeface="Calibri"/>
                          <a:ea typeface="Calibri"/>
                          <a:cs typeface="Calibri"/>
                          <a:sym typeface="Calibri"/>
                        </a:rPr>
                        <a:t> </a:t>
                      </a:r>
                      <a:r>
                        <a:rPr lang="en-US" sz="1750">
                          <a:solidFill>
                            <a:schemeClr val="dk1"/>
                          </a:solidFill>
                          <a:latin typeface="Inter"/>
                          <a:ea typeface="Inter"/>
                          <a:cs typeface="Inter"/>
                          <a:sym typeface="Inter"/>
                        </a:rPr>
                        <a:t>inicial</a:t>
                      </a:r>
                      <a:endParaRPr sz="900">
                        <a:solidFill>
                          <a:srgbClr val="548DD4"/>
                        </a:solidFill>
                        <a:latin typeface="Calibri"/>
                        <a:ea typeface="Calibri"/>
                        <a:cs typeface="Calibri"/>
                        <a:sym typeface="Calibri"/>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Modelado de procesos y casos de uso</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Diseño de base de datos</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Desarrollo del MVP inicial</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Integración de pagos en línea</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Desarrollo de notificaciones automáticas y panel administrativo.</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Pruebas de seguridad y calidad</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Despliegue en servidor VPS</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Validación final del sistema</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r h="584975">
                <a:tc>
                  <a:txBody>
                    <a:bodyPr/>
                    <a:lstStyle/>
                    <a:p>
                      <a:pPr indent="0" lvl="0" marL="0" rtl="0" algn="just">
                        <a:lnSpc>
                          <a:spcPct val="107916"/>
                        </a:lnSpc>
                        <a:spcBef>
                          <a:spcPts val="0"/>
                        </a:spcBef>
                        <a:spcAft>
                          <a:spcPts val="800"/>
                        </a:spcAft>
                        <a:buNone/>
                      </a:pPr>
                      <a:r>
                        <a:rPr lang="en-US" sz="1750">
                          <a:solidFill>
                            <a:schemeClr val="dk1"/>
                          </a:solidFill>
                          <a:latin typeface="Inter"/>
                          <a:ea typeface="Inter"/>
                          <a:cs typeface="Inter"/>
                          <a:sym typeface="Inter"/>
                        </a:rPr>
                        <a:t>Documentar y presentar proyecto</a:t>
                      </a:r>
                      <a:endParaRPr sz="1750">
                        <a:solidFill>
                          <a:schemeClr val="dk1"/>
                        </a:solidFill>
                        <a:latin typeface="Inter"/>
                        <a:ea typeface="Inter"/>
                        <a:cs typeface="Inter"/>
                        <a:sym typeface="Inter"/>
                      </a:endParaRPr>
                    </a:p>
                  </a:txBody>
                  <a:tcPr marT="0" marB="0" marR="68575" marL="68575">
                    <a:lnL cap="flat" cmpd="sng" w="6350">
                      <a:solidFill>
                        <a:schemeClr val="dk1"/>
                      </a:solidFill>
                      <a:prstDash val="solid"/>
                      <a:round/>
                      <a:headEnd len="sm" w="sm" type="none"/>
                      <a:tailEnd len="sm" w="sm" type="none"/>
                    </a:lnL>
                    <a:lnR cap="flat" cmpd="sng" w="6350">
                      <a:solidFill>
                        <a:schemeClr val="dk1"/>
                      </a:solidFill>
                      <a:prstDash val="solid"/>
                      <a:round/>
                      <a:headEnd len="sm" w="sm" type="none"/>
                      <a:tailEnd len="sm" w="sm" type="none"/>
                    </a:lnR>
                    <a:lnT cap="flat" cmpd="sng" w="6350">
                      <a:solidFill>
                        <a:schemeClr val="dk1"/>
                      </a:solidFill>
                      <a:prstDash val="solid"/>
                      <a:round/>
                      <a:headEnd len="sm" w="sm" type="none"/>
                      <a:tailEnd len="sm" w="sm" type="none"/>
                    </a:lnT>
                    <a:lnB cap="flat" cmpd="sng" w="6350">
                      <a:solidFill>
                        <a:schemeClr val="dk1"/>
                      </a:solidFill>
                      <a:prstDash val="solid"/>
                      <a:round/>
                      <a:headEnd len="sm" w="sm" type="none"/>
                      <a:tailEnd len="sm" w="sm" type="none"/>
                    </a:lnB>
                    <a:solidFill>
                      <a:srgbClr val="9FC5E8"/>
                    </a:solidFill>
                  </a:tcPr>
                </a:tc>
              </a:tr>
            </a:tbl>
          </a:graphicData>
        </a:graphic>
      </p:graphicFrame>
      <p:pic>
        <p:nvPicPr>
          <p:cNvPr id="246" name="Google Shape;246;p8"/>
          <p:cNvPicPr preferRelativeResize="0"/>
          <p:nvPr/>
        </p:nvPicPr>
        <p:blipFill>
          <a:blip r:embed="rId3">
            <a:alphaModFix/>
          </a:blip>
          <a:stretch>
            <a:fillRect/>
          </a:stretch>
        </p:blipFill>
        <p:spPr>
          <a:xfrm>
            <a:off x="0" y="4110892"/>
            <a:ext cx="5491601" cy="4118700"/>
          </a:xfrm>
          <a:prstGeom prst="rect">
            <a:avLst/>
          </a:prstGeom>
          <a:noFill/>
          <a:ln>
            <a:noFill/>
          </a:ln>
        </p:spPr>
      </p:pic>
      <p:cxnSp>
        <p:nvCxnSpPr>
          <p:cNvPr id="247" name="Google Shape;247;p8"/>
          <p:cNvCxnSpPr>
            <a:stCxn id="243" idx="3"/>
          </p:cNvCxnSpPr>
          <p:nvPr/>
        </p:nvCxnSpPr>
        <p:spPr>
          <a:xfrm flipH="1" rot="10800000">
            <a:off x="4894550" y="2356050"/>
            <a:ext cx="3623100" cy="8538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48" name="Google Shape;248;p8"/>
          <p:cNvCxnSpPr>
            <a:stCxn id="243" idx="3"/>
          </p:cNvCxnSpPr>
          <p:nvPr/>
        </p:nvCxnSpPr>
        <p:spPr>
          <a:xfrm flipH="1" rot="10800000">
            <a:off x="4894550" y="2865750"/>
            <a:ext cx="3623100" cy="3441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49" name="Google Shape;249;p8"/>
          <p:cNvCxnSpPr>
            <a:stCxn id="243" idx="3"/>
          </p:cNvCxnSpPr>
          <p:nvPr/>
        </p:nvCxnSpPr>
        <p:spPr>
          <a:xfrm>
            <a:off x="4894550" y="3209850"/>
            <a:ext cx="3612000" cy="298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0" name="Google Shape;250;p8"/>
          <p:cNvCxnSpPr>
            <a:stCxn id="243" idx="3"/>
          </p:cNvCxnSpPr>
          <p:nvPr/>
        </p:nvCxnSpPr>
        <p:spPr>
          <a:xfrm>
            <a:off x="4894550" y="3209850"/>
            <a:ext cx="3612000" cy="885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1" name="Google Shape;251;p8"/>
          <p:cNvCxnSpPr>
            <a:stCxn id="243" idx="3"/>
          </p:cNvCxnSpPr>
          <p:nvPr/>
        </p:nvCxnSpPr>
        <p:spPr>
          <a:xfrm>
            <a:off x="4894550" y="3209850"/>
            <a:ext cx="3623100" cy="1472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2" name="Google Shape;252;p8"/>
          <p:cNvCxnSpPr>
            <a:stCxn id="243" idx="3"/>
          </p:cNvCxnSpPr>
          <p:nvPr/>
        </p:nvCxnSpPr>
        <p:spPr>
          <a:xfrm>
            <a:off x="4894550" y="3209850"/>
            <a:ext cx="3612000" cy="2026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3" name="Google Shape;253;p8"/>
          <p:cNvCxnSpPr>
            <a:stCxn id="243" idx="3"/>
          </p:cNvCxnSpPr>
          <p:nvPr/>
        </p:nvCxnSpPr>
        <p:spPr>
          <a:xfrm>
            <a:off x="4894550" y="3209850"/>
            <a:ext cx="3623100" cy="2657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4" name="Google Shape;254;p8"/>
          <p:cNvCxnSpPr>
            <a:stCxn id="243" idx="3"/>
          </p:cNvCxnSpPr>
          <p:nvPr/>
        </p:nvCxnSpPr>
        <p:spPr>
          <a:xfrm>
            <a:off x="4894550" y="3209850"/>
            <a:ext cx="3623100" cy="3222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5" name="Google Shape;255;p8"/>
          <p:cNvCxnSpPr>
            <a:stCxn id="243" idx="3"/>
          </p:cNvCxnSpPr>
          <p:nvPr/>
        </p:nvCxnSpPr>
        <p:spPr>
          <a:xfrm>
            <a:off x="4894550" y="3209850"/>
            <a:ext cx="3634200" cy="3624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6" name="Google Shape;256;p8"/>
          <p:cNvCxnSpPr>
            <a:stCxn id="243" idx="3"/>
          </p:cNvCxnSpPr>
          <p:nvPr/>
        </p:nvCxnSpPr>
        <p:spPr>
          <a:xfrm flipH="1" rot="10800000">
            <a:off x="4894550" y="1761150"/>
            <a:ext cx="3600900" cy="14487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7" name="Google Shape;257;p8"/>
          <p:cNvCxnSpPr>
            <a:stCxn id="243" idx="3"/>
          </p:cNvCxnSpPr>
          <p:nvPr/>
        </p:nvCxnSpPr>
        <p:spPr>
          <a:xfrm flipH="1" rot="10800000">
            <a:off x="4894550" y="1162950"/>
            <a:ext cx="3612000" cy="204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9"/>
          <p:cNvSpPr/>
          <p:nvPr/>
        </p:nvSpPr>
        <p:spPr>
          <a:xfrm>
            <a:off x="758666" y="-29090"/>
            <a:ext cx="10068300" cy="677400"/>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000000"/>
              </a:buClr>
              <a:buSzPts val="4250"/>
              <a:buFont typeface="Inter"/>
              <a:buNone/>
            </a:pPr>
            <a:r>
              <a:rPr b="1" i="0" lang="en-US" sz="4250" u="none" cap="none" strike="noStrike">
                <a:solidFill>
                  <a:srgbClr val="000000"/>
                </a:solidFill>
                <a:latin typeface="Inter"/>
                <a:ea typeface="Inter"/>
                <a:cs typeface="Inter"/>
                <a:sym typeface="Inter"/>
              </a:rPr>
              <a:t>Evidencias y Entregables del Proyecto</a:t>
            </a:r>
            <a:endParaRPr b="0" i="0" sz="4250" u="none" cap="none" strike="noStrike"/>
          </a:p>
        </p:txBody>
      </p:sp>
      <p:sp>
        <p:nvSpPr>
          <p:cNvPr id="264" name="Google Shape;264;p9"/>
          <p:cNvSpPr/>
          <p:nvPr/>
        </p:nvSpPr>
        <p:spPr>
          <a:xfrm>
            <a:off x="758666" y="909643"/>
            <a:ext cx="13113000" cy="6936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Al finalizar el proyecto, presentaremos un conjunto completo de documentos y artefactos que demuestran la ejecución, el desarrollo y la funcionalidad de CaninosLook.</a:t>
            </a:r>
            <a:endParaRPr b="0" i="0" sz="1700" u="none" cap="none" strike="noStrike"/>
          </a:p>
        </p:txBody>
      </p:sp>
      <p:sp>
        <p:nvSpPr>
          <p:cNvPr id="265" name="Google Shape;265;p9"/>
          <p:cNvSpPr/>
          <p:nvPr/>
        </p:nvSpPr>
        <p:spPr>
          <a:xfrm>
            <a:off x="758666" y="2644616"/>
            <a:ext cx="13113068" cy="4992053"/>
          </a:xfrm>
          <a:prstGeom prst="roundRect">
            <a:avLst>
              <a:gd fmla="val 1824"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766286" y="2029304"/>
            <a:ext cx="13097700" cy="622200"/>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983099" y="2166941"/>
            <a:ext cx="34920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Repositorio GitHub</a:t>
            </a:r>
            <a:endParaRPr b="0" i="0" sz="1700" u="none" cap="none" strike="noStrike"/>
          </a:p>
        </p:txBody>
      </p:sp>
      <p:sp>
        <p:nvSpPr>
          <p:cNvPr id="268" name="Google Shape;268;p9"/>
          <p:cNvSpPr/>
          <p:nvPr/>
        </p:nvSpPr>
        <p:spPr>
          <a:xfrm>
            <a:off x="4916210" y="2166941"/>
            <a:ext cx="87312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Código fuente completo y control de versiones.</a:t>
            </a:r>
            <a:endParaRPr b="0" i="0" sz="1700" u="none" cap="none" strike="noStrike"/>
          </a:p>
        </p:txBody>
      </p:sp>
      <p:sp>
        <p:nvSpPr>
          <p:cNvPr id="269" name="Google Shape;269;p9"/>
          <p:cNvSpPr/>
          <p:nvPr/>
        </p:nvSpPr>
        <p:spPr>
          <a:xfrm>
            <a:off x="766286" y="2651406"/>
            <a:ext cx="13097700" cy="622200"/>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983099" y="2789042"/>
            <a:ext cx="34920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Guía del Proyecto</a:t>
            </a:r>
            <a:endParaRPr b="0" i="0" sz="1700" u="none" cap="none" strike="noStrike"/>
          </a:p>
        </p:txBody>
      </p:sp>
      <p:sp>
        <p:nvSpPr>
          <p:cNvPr id="271" name="Google Shape;271;p9"/>
          <p:cNvSpPr/>
          <p:nvPr/>
        </p:nvSpPr>
        <p:spPr>
          <a:xfrm>
            <a:off x="4916210" y="2789042"/>
            <a:ext cx="87312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Documento de alcance, requisitos y planificación.</a:t>
            </a:r>
            <a:endParaRPr b="0" i="0" sz="1700" u="none" cap="none" strike="noStrike"/>
          </a:p>
        </p:txBody>
      </p:sp>
      <p:sp>
        <p:nvSpPr>
          <p:cNvPr id="272" name="Google Shape;272;p9"/>
          <p:cNvSpPr/>
          <p:nvPr/>
        </p:nvSpPr>
        <p:spPr>
          <a:xfrm>
            <a:off x="766286" y="3273507"/>
            <a:ext cx="13097700" cy="622200"/>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983099" y="3411144"/>
            <a:ext cx="34920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Diagramas BPMN</a:t>
            </a:r>
            <a:endParaRPr b="0" i="0" sz="1700" u="none" cap="none" strike="noStrike"/>
          </a:p>
        </p:txBody>
      </p:sp>
      <p:sp>
        <p:nvSpPr>
          <p:cNvPr id="274" name="Google Shape;274;p9"/>
          <p:cNvSpPr/>
          <p:nvPr/>
        </p:nvSpPr>
        <p:spPr>
          <a:xfrm>
            <a:off x="4916210" y="3411144"/>
            <a:ext cx="87312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Modelado de procesos de negocio actuales y futuros.</a:t>
            </a:r>
            <a:endParaRPr b="0" i="0" sz="1700" u="none" cap="none" strike="noStrike"/>
          </a:p>
        </p:txBody>
      </p:sp>
      <p:sp>
        <p:nvSpPr>
          <p:cNvPr id="275" name="Google Shape;275;p9"/>
          <p:cNvSpPr/>
          <p:nvPr/>
        </p:nvSpPr>
        <p:spPr>
          <a:xfrm>
            <a:off x="766286" y="3895609"/>
            <a:ext cx="13097700" cy="622200"/>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983099" y="4033245"/>
            <a:ext cx="34920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Wireframes UX/UI</a:t>
            </a:r>
            <a:endParaRPr b="0" i="0" sz="1700" u="none" cap="none" strike="noStrike"/>
          </a:p>
        </p:txBody>
      </p:sp>
      <p:sp>
        <p:nvSpPr>
          <p:cNvPr id="277" name="Google Shape;277;p9"/>
          <p:cNvSpPr/>
          <p:nvPr/>
        </p:nvSpPr>
        <p:spPr>
          <a:xfrm>
            <a:off x="4916210" y="4033245"/>
            <a:ext cx="87312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Diseños visuales de </a:t>
            </a:r>
            <a:r>
              <a:rPr lang="en-US" sz="1700">
                <a:solidFill>
                  <a:srgbClr val="272525"/>
                </a:solidFill>
                <a:latin typeface="Inter"/>
                <a:ea typeface="Inter"/>
                <a:cs typeface="Inter"/>
                <a:sym typeface="Inter"/>
              </a:rPr>
              <a:t>baja fidelidad</a:t>
            </a:r>
            <a:r>
              <a:rPr b="0" i="0" lang="en-US" sz="1700" u="none" cap="none" strike="noStrike">
                <a:solidFill>
                  <a:srgbClr val="272525"/>
                </a:solidFill>
                <a:latin typeface="Inter"/>
                <a:ea typeface="Inter"/>
                <a:cs typeface="Inter"/>
                <a:sym typeface="Inter"/>
              </a:rPr>
              <a:t> de la interfaz de usuario.</a:t>
            </a:r>
            <a:endParaRPr b="0" i="0" sz="1700" u="none" cap="none" strike="noStrike"/>
          </a:p>
        </p:txBody>
      </p:sp>
      <p:sp>
        <p:nvSpPr>
          <p:cNvPr id="278" name="Google Shape;278;p9"/>
          <p:cNvSpPr/>
          <p:nvPr/>
        </p:nvSpPr>
        <p:spPr>
          <a:xfrm>
            <a:off x="766286" y="4517711"/>
            <a:ext cx="13097700" cy="622200"/>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983099" y="4655347"/>
            <a:ext cx="34920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Product Backlog</a:t>
            </a:r>
            <a:endParaRPr b="0" i="0" sz="1700" u="none" cap="none" strike="noStrike"/>
          </a:p>
        </p:txBody>
      </p:sp>
      <p:sp>
        <p:nvSpPr>
          <p:cNvPr id="280" name="Google Shape;280;p9"/>
          <p:cNvSpPr/>
          <p:nvPr/>
        </p:nvSpPr>
        <p:spPr>
          <a:xfrm>
            <a:off x="4916210" y="4655347"/>
            <a:ext cx="87312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Lista priorizada de funcionalidades y requisitos.</a:t>
            </a:r>
            <a:endParaRPr b="0" i="0" sz="1700" u="none" cap="none" strike="noStrike"/>
          </a:p>
        </p:txBody>
      </p:sp>
      <p:sp>
        <p:nvSpPr>
          <p:cNvPr id="281" name="Google Shape;281;p9"/>
          <p:cNvSpPr/>
          <p:nvPr/>
        </p:nvSpPr>
        <p:spPr>
          <a:xfrm>
            <a:off x="766286" y="5762744"/>
            <a:ext cx="13097827" cy="622102"/>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p:nvPr/>
        </p:nvSpPr>
        <p:spPr>
          <a:xfrm>
            <a:off x="983099" y="5900380"/>
            <a:ext cx="3492103" cy="34682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Sistema Web Funcional</a:t>
            </a:r>
            <a:endParaRPr b="0" i="0" sz="1700" u="none" cap="none" strike="noStrike"/>
          </a:p>
        </p:txBody>
      </p:sp>
      <p:sp>
        <p:nvSpPr>
          <p:cNvPr id="283" name="Google Shape;283;p9"/>
          <p:cNvSpPr/>
          <p:nvPr/>
        </p:nvSpPr>
        <p:spPr>
          <a:xfrm>
            <a:off x="4916210" y="5900380"/>
            <a:ext cx="8731210" cy="34682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Aplicación desplegada y lista para ser utilizada.</a:t>
            </a:r>
            <a:endParaRPr b="0" i="0" sz="1700" u="none" cap="none" strike="noStrike"/>
          </a:p>
        </p:txBody>
      </p:sp>
      <p:sp>
        <p:nvSpPr>
          <p:cNvPr id="284" name="Google Shape;284;p9"/>
          <p:cNvSpPr/>
          <p:nvPr/>
        </p:nvSpPr>
        <p:spPr>
          <a:xfrm>
            <a:off x="766286" y="6384846"/>
            <a:ext cx="13097827" cy="622102"/>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983099" y="6522482"/>
            <a:ext cx="3492103" cy="34682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Manual de Usuario</a:t>
            </a:r>
            <a:endParaRPr b="0" i="0" sz="1700" u="none" cap="none" strike="noStrike"/>
          </a:p>
        </p:txBody>
      </p:sp>
      <p:sp>
        <p:nvSpPr>
          <p:cNvPr id="286" name="Google Shape;286;p9"/>
          <p:cNvSpPr/>
          <p:nvPr/>
        </p:nvSpPr>
        <p:spPr>
          <a:xfrm>
            <a:off x="4916210" y="6522482"/>
            <a:ext cx="8731210" cy="34682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Instrucciones detalladas para el uso del sistema.</a:t>
            </a:r>
            <a:endParaRPr b="0" i="0" sz="1700" u="none" cap="none" strike="noStrike"/>
          </a:p>
        </p:txBody>
      </p:sp>
      <p:sp>
        <p:nvSpPr>
          <p:cNvPr id="287" name="Google Shape;287;p9"/>
          <p:cNvSpPr/>
          <p:nvPr/>
        </p:nvSpPr>
        <p:spPr>
          <a:xfrm>
            <a:off x="766286" y="7006947"/>
            <a:ext cx="13097827" cy="622102"/>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983099" y="7144583"/>
            <a:ext cx="3492103" cy="34682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Informe Final</a:t>
            </a:r>
            <a:endParaRPr b="0" i="0" sz="1700" u="none" cap="none" strike="noStrike"/>
          </a:p>
        </p:txBody>
      </p:sp>
      <p:sp>
        <p:nvSpPr>
          <p:cNvPr id="289" name="Google Shape;289;p9"/>
          <p:cNvSpPr/>
          <p:nvPr/>
        </p:nvSpPr>
        <p:spPr>
          <a:xfrm>
            <a:off x="4916210" y="7144583"/>
            <a:ext cx="8731210" cy="346829"/>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b="0" i="0" lang="en-US" sz="1700" u="none" cap="none" strike="noStrike">
                <a:solidFill>
                  <a:srgbClr val="272525"/>
                </a:solidFill>
                <a:latin typeface="Inter"/>
                <a:ea typeface="Inter"/>
                <a:cs typeface="Inter"/>
                <a:sym typeface="Inter"/>
              </a:rPr>
              <a:t>Resumen ejecutivo, resultados y conclusiones del proyecto.</a:t>
            </a:r>
            <a:endParaRPr b="0" i="0" sz="1700" u="none" cap="none" strike="noStrike"/>
          </a:p>
        </p:txBody>
      </p:sp>
      <p:sp>
        <p:nvSpPr>
          <p:cNvPr id="290" name="Google Shape;290;p9"/>
          <p:cNvSpPr/>
          <p:nvPr/>
        </p:nvSpPr>
        <p:spPr>
          <a:xfrm>
            <a:off x="0" y="7766700"/>
            <a:ext cx="14532000" cy="518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91" name="Google Shape;291;p9"/>
          <p:cNvSpPr/>
          <p:nvPr/>
        </p:nvSpPr>
        <p:spPr>
          <a:xfrm>
            <a:off x="766286" y="5150396"/>
            <a:ext cx="13097700" cy="622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960947" y="5288032"/>
            <a:ext cx="34920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lang="en-US" sz="1700">
                <a:solidFill>
                  <a:srgbClr val="272525"/>
                </a:solidFill>
                <a:latin typeface="Inter"/>
                <a:ea typeface="Inter"/>
                <a:cs typeface="Inter"/>
                <a:sym typeface="Inter"/>
              </a:rPr>
              <a:t>Guia desarrollo del proyecto</a:t>
            </a:r>
            <a:endParaRPr b="0" i="0" sz="1700" u="none" cap="none" strike="noStrike"/>
          </a:p>
        </p:txBody>
      </p:sp>
      <p:sp>
        <p:nvSpPr>
          <p:cNvPr id="293" name="Google Shape;293;p9"/>
          <p:cNvSpPr/>
          <p:nvPr/>
        </p:nvSpPr>
        <p:spPr>
          <a:xfrm>
            <a:off x="4916210" y="5288032"/>
            <a:ext cx="8731200" cy="346800"/>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72525"/>
              </a:buClr>
              <a:buSzPts val="1700"/>
              <a:buFont typeface="Inter"/>
              <a:buNone/>
            </a:pPr>
            <a:r>
              <a:rPr lang="en-US" sz="1700">
                <a:solidFill>
                  <a:srgbClr val="272525"/>
                </a:solidFill>
                <a:latin typeface="Inter"/>
                <a:ea typeface="Inter"/>
                <a:cs typeface="Inter"/>
                <a:sym typeface="Inter"/>
              </a:rPr>
              <a:t>Documento intermedio que detalla el desarrollo y avances alcanzados</a:t>
            </a:r>
            <a:r>
              <a:rPr b="0" i="0" lang="en-US" sz="1700" u="none" cap="none" strike="noStrike">
                <a:solidFill>
                  <a:srgbClr val="272525"/>
                </a:solidFill>
                <a:latin typeface="Inter"/>
                <a:ea typeface="Inter"/>
                <a:cs typeface="Inter"/>
                <a:sym typeface="Inter"/>
              </a:rPr>
              <a:t>.</a:t>
            </a:r>
            <a:endParaRPr b="0" i="0" sz="17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0"/>
          <p:cNvSpPr/>
          <p:nvPr/>
        </p:nvSpPr>
        <p:spPr>
          <a:xfrm>
            <a:off x="793790" y="1364813"/>
            <a:ext cx="878978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Inter"/>
              <a:buNone/>
            </a:pPr>
            <a:r>
              <a:rPr b="1" i="0" lang="en-US" sz="4450" u="none" cap="none" strike="noStrike">
                <a:solidFill>
                  <a:srgbClr val="000000"/>
                </a:solidFill>
                <a:latin typeface="Inter"/>
                <a:ea typeface="Inter"/>
                <a:cs typeface="Inter"/>
                <a:sym typeface="Inter"/>
              </a:rPr>
              <a:t>Conclusiones y Próximos Pasos</a:t>
            </a:r>
            <a:endParaRPr b="0" i="0" sz="4450" u="none" cap="none" strike="noStrike"/>
          </a:p>
        </p:txBody>
      </p:sp>
      <p:sp>
        <p:nvSpPr>
          <p:cNvPr id="300" name="Google Shape;300;p10"/>
          <p:cNvSpPr/>
          <p:nvPr/>
        </p:nvSpPr>
        <p:spPr>
          <a:xfrm>
            <a:off x="1133951" y="2782372"/>
            <a:ext cx="1270265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"CaninosLook no es solo un proyecto académico; es una iniciativa que busca generar un impacto real y tangible en la digitalización de servicios locales, aplicando conocimientos de ingeniería para resolver problemas cotidianos."</a:t>
            </a:r>
            <a:endParaRPr b="0" i="0" sz="1750" u="none" cap="none" strike="noStrike"/>
          </a:p>
        </p:txBody>
      </p:sp>
      <p:sp>
        <p:nvSpPr>
          <p:cNvPr id="301" name="Google Shape;301;p10"/>
          <p:cNvSpPr/>
          <p:nvPr/>
        </p:nvSpPr>
        <p:spPr>
          <a:xfrm>
            <a:off x="793790" y="2527221"/>
            <a:ext cx="30480" cy="1236107"/>
          </a:xfrm>
          <a:prstGeom prst="rect">
            <a:avLst/>
          </a:prstGeom>
          <a:solidFill>
            <a:srgbClr val="495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a:off x="793790" y="4018478"/>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A lo largo de este proyecto, </a:t>
            </a:r>
            <a:r>
              <a:rPr lang="en-US" sz="1750">
                <a:solidFill>
                  <a:srgbClr val="272525"/>
                </a:solidFill>
                <a:latin typeface="Inter"/>
                <a:ea typeface="Inter"/>
                <a:cs typeface="Inter"/>
                <a:sym typeface="Inter"/>
              </a:rPr>
              <a:t>demostramos</a:t>
            </a:r>
            <a:r>
              <a:rPr b="0" i="0" lang="en-US" sz="1750" u="none" cap="none" strike="noStrike">
                <a:solidFill>
                  <a:srgbClr val="272525"/>
                </a:solidFill>
                <a:latin typeface="Inter"/>
                <a:ea typeface="Inter"/>
                <a:cs typeface="Inter"/>
                <a:sym typeface="Inter"/>
              </a:rPr>
              <a:t> nuestra capacidad para:</a:t>
            </a:r>
            <a:endParaRPr b="0" i="0" sz="1750" u="none" cap="none" strike="noStrike"/>
          </a:p>
        </p:txBody>
      </p:sp>
      <p:sp>
        <p:nvSpPr>
          <p:cNvPr id="303" name="Google Shape;303;p10"/>
          <p:cNvSpPr/>
          <p:nvPr/>
        </p:nvSpPr>
        <p:spPr>
          <a:xfrm>
            <a:off x="793790" y="4636532"/>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Analizar y resolver problemas complejos</a:t>
            </a:r>
            <a:r>
              <a:rPr b="0" i="0" lang="en-US" sz="1750" u="none" cap="none" strike="noStrike">
                <a:solidFill>
                  <a:srgbClr val="272525"/>
                </a:solidFill>
                <a:latin typeface="Inter"/>
                <a:ea typeface="Inter"/>
                <a:cs typeface="Inter"/>
                <a:sym typeface="Inter"/>
              </a:rPr>
              <a:t> en un contexto real.</a:t>
            </a:r>
            <a:endParaRPr b="0" i="0" sz="1750" u="none" cap="none" strike="noStrike"/>
          </a:p>
        </p:txBody>
      </p:sp>
      <p:sp>
        <p:nvSpPr>
          <p:cNvPr id="304" name="Google Shape;304;p10"/>
          <p:cNvSpPr/>
          <p:nvPr/>
        </p:nvSpPr>
        <p:spPr>
          <a:xfrm>
            <a:off x="793790" y="5078730"/>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Diseñar y desarrollar soluciones de software</a:t>
            </a:r>
            <a:r>
              <a:rPr b="0" i="0" lang="en-US" sz="1750" u="none" cap="none" strike="noStrike">
                <a:solidFill>
                  <a:srgbClr val="272525"/>
                </a:solidFill>
                <a:latin typeface="Inter"/>
                <a:ea typeface="Inter"/>
                <a:cs typeface="Inter"/>
                <a:sym typeface="Inter"/>
              </a:rPr>
              <a:t> robustas y seguras.</a:t>
            </a:r>
            <a:endParaRPr b="0" i="0" sz="1750" u="none" cap="none" strike="noStrike"/>
          </a:p>
        </p:txBody>
      </p:sp>
      <p:sp>
        <p:nvSpPr>
          <p:cNvPr id="305" name="Google Shape;305;p10"/>
          <p:cNvSpPr/>
          <p:nvPr/>
        </p:nvSpPr>
        <p:spPr>
          <a:xfrm>
            <a:off x="793790" y="5520928"/>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1" i="0" lang="en-US" sz="1750" u="none" cap="none" strike="noStrike">
                <a:solidFill>
                  <a:srgbClr val="272525"/>
                </a:solidFill>
                <a:latin typeface="Inter"/>
                <a:ea typeface="Inter"/>
                <a:cs typeface="Inter"/>
                <a:sym typeface="Inter"/>
              </a:rPr>
              <a:t>Gestionar proyectos</a:t>
            </a:r>
            <a:r>
              <a:rPr b="0" i="0" lang="en-US" sz="1750" u="none" cap="none" strike="noStrike">
                <a:solidFill>
                  <a:srgbClr val="272525"/>
                </a:solidFill>
                <a:latin typeface="Inter"/>
                <a:ea typeface="Inter"/>
                <a:cs typeface="Inter"/>
                <a:sym typeface="Inter"/>
              </a:rPr>
              <a:t> bajo metodologías ágiles, garantizando la entrega de valor.</a:t>
            </a:r>
            <a:endParaRPr b="0" i="0" sz="1750" u="none" cap="none" strike="noStrike"/>
          </a:p>
        </p:txBody>
      </p:sp>
      <p:sp>
        <p:nvSpPr>
          <p:cNvPr id="306" name="Google Shape;306;p10"/>
          <p:cNvSpPr/>
          <p:nvPr/>
        </p:nvSpPr>
        <p:spPr>
          <a:xfrm>
            <a:off x="793790" y="6138982"/>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72525"/>
              </a:buClr>
              <a:buSzPts val="1750"/>
              <a:buFont typeface="Inter"/>
              <a:buNone/>
            </a:pPr>
            <a:r>
              <a:rPr b="0" i="0" lang="en-US" sz="1750" u="none" cap="none" strike="noStrike">
                <a:solidFill>
                  <a:srgbClr val="272525"/>
                </a:solidFill>
                <a:latin typeface="Inter"/>
                <a:ea typeface="Inter"/>
                <a:cs typeface="Inter"/>
                <a:sym typeface="Inter"/>
              </a:rPr>
              <a:t>Estamos listos para el </a:t>
            </a:r>
            <a:r>
              <a:rPr lang="en-US" sz="1750">
                <a:solidFill>
                  <a:srgbClr val="272525"/>
                </a:solidFill>
                <a:latin typeface="Inter"/>
                <a:ea typeface="Inter"/>
                <a:cs typeface="Inter"/>
                <a:sym typeface="Inter"/>
              </a:rPr>
              <a:t>desarrollo</a:t>
            </a:r>
            <a:r>
              <a:rPr b="0" i="0" lang="en-US" sz="1750" u="none" cap="none" strike="noStrike">
                <a:solidFill>
                  <a:srgbClr val="272525"/>
                </a:solidFill>
                <a:latin typeface="Inter"/>
                <a:ea typeface="Inter"/>
                <a:cs typeface="Inter"/>
                <a:sym typeface="Inter"/>
              </a:rPr>
              <a:t> de CaninosLook y esperamos que esta solución sirva como un modelo de innovación y eficiencia para el sector de servicios de mascotas. ¡Gracias!</a:t>
            </a:r>
            <a:endParaRPr b="0" i="0" sz="1750" u="none" cap="none" strike="noStrike"/>
          </a:p>
        </p:txBody>
      </p:sp>
      <p:sp>
        <p:nvSpPr>
          <p:cNvPr id="307" name="Google Shape;307;p10"/>
          <p:cNvSpPr/>
          <p:nvPr/>
        </p:nvSpPr>
        <p:spPr>
          <a:xfrm>
            <a:off x="0" y="7576100"/>
            <a:ext cx="14532000" cy="70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2025-09-10T22:55:52Z</dcterms:created>
</cp:coreProperties>
</file>